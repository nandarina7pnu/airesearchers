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71" r:id="rId4"/>
    <p:sldId id="258" r:id="rId5"/>
    <p:sldId id="259" r:id="rId6"/>
    <p:sldId id="260" r:id="rId7"/>
    <p:sldId id="261" r:id="rId8"/>
    <p:sldId id="270" r:id="rId9"/>
    <p:sldId id="262" r:id="rId10"/>
    <p:sldId id="272" r:id="rId11"/>
    <p:sldId id="268" r:id="rId12"/>
    <p:sldId id="263" r:id="rId13"/>
    <p:sldId id="273" r:id="rId14"/>
    <p:sldId id="275" r:id="rId15"/>
    <p:sldId id="274" r:id="rId16"/>
    <p:sldId id="276" r:id="rId17"/>
    <p:sldId id="277" r:id="rId18"/>
    <p:sldId id="279" r:id="rId19"/>
    <p:sldId id="278" r:id="rId20"/>
    <p:sldId id="280" r:id="rId21"/>
    <p:sldId id="264" r:id="rId22"/>
    <p:sldId id="265" r:id="rId23"/>
    <p:sldId id="266" r:id="rId24"/>
    <p:sldId id="267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7" d="100"/>
          <a:sy n="87" d="100"/>
        </p:scale>
        <p:origin x="246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0AE11-B951-4E7D-9AF2-D629D76F7E62}" type="datetimeFigureOut">
              <a:rPr lang="ko-KR" altLang="en-US" smtClean="0"/>
              <a:t>2026-10-07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3E2218-7693-449E-9FC1-A5637B664C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9652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3E2218-7693-449E-9FC1-A5637B664C11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75948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3E2218-7693-449E-9FC1-A5637B664C11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14950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0.png"/><Relationship Id="rId7" Type="http://schemas.openxmlformats.org/officeDocument/2006/relationships/image" Target="../media/image3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49808" y="1417320"/>
            <a:ext cx="9966960" cy="14465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500" b="1">
                <a:solidFill>
                  <a:srgbClr val="F5F5F5"/>
                </a:solidFill>
                <a:latin typeface="Noto Sans CJK KR"/>
              </a:defRPr>
            </a:pPr>
            <a:r>
              <a:rPr sz="4400" dirty="0"/>
              <a:t>Denoising Diffusion</a:t>
            </a:r>
            <a:br>
              <a:rPr sz="4400" dirty="0"/>
            </a:br>
            <a:r>
              <a:rPr sz="4400" dirty="0"/>
              <a:t>Probabilistic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86384" y="3063240"/>
            <a:ext cx="8686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B4B4B4"/>
                </a:solidFill>
                <a:latin typeface="Noto Sans CJK KR"/>
              </a:defRPr>
            </a:pPr>
            <a:r>
              <a:rPr dirty="0"/>
              <a:t>Jonathan Ho · Ajay Jain · Pieter </a:t>
            </a:r>
            <a:r>
              <a:rPr dirty="0" err="1"/>
              <a:t>Abbeel</a:t>
            </a:r>
            <a:r>
              <a:rPr dirty="0"/>
              <a:t>  |  </a:t>
            </a:r>
            <a:r>
              <a:rPr dirty="0" err="1"/>
              <a:t>NeurIPS</a:t>
            </a:r>
            <a:r>
              <a:rPr dirty="0"/>
              <a:t> 2020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5257800"/>
            <a:ext cx="3657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>
                <a:solidFill>
                  <a:srgbClr val="F5F5F5"/>
                </a:solidFill>
                <a:latin typeface="Noto Sans CJK KR"/>
              </a:defRPr>
            </a:pPr>
            <a:r>
              <a:rPr dirty="0"/>
              <a:t>202455424 </a:t>
            </a:r>
            <a:r>
              <a:rPr dirty="0" err="1"/>
              <a:t>박현아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9491472" y="5285232"/>
            <a:ext cx="19202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200" b="0">
                <a:solidFill>
                  <a:srgbClr val="5F5F5F"/>
                </a:solidFill>
                <a:latin typeface="Noto Sans CJK KR"/>
              </a:defRPr>
            </a:pPr>
            <a:r>
              <a:t>Paper Review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438912"/>
            <a:ext cx="106984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F5F5F5"/>
                </a:solidFill>
                <a:latin typeface="Noto Sans CJK KR"/>
              </a:defRPr>
            </a:pPr>
            <a:r>
              <a:t>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48463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>
                <a:solidFill>
                  <a:srgbClr val="5F5F5F"/>
                </a:solidFill>
                <a:latin typeface="Noto Sans CJK KR"/>
              </a:defRPr>
            </a:pPr>
            <a:r>
              <a:t>02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0744200" cy="10972"/>
          </a:xfrm>
          <a:prstGeom prst="rect">
            <a:avLst/>
          </a:prstGeom>
          <a:solidFill>
            <a:srgbClr val="5F5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60120" y="1508760"/>
            <a:ext cx="594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5F5F5F"/>
                </a:solidFill>
                <a:latin typeface="Noto Sans CJK KR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64208" y="1490472"/>
            <a:ext cx="594360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0">
                <a:solidFill>
                  <a:srgbClr val="F5F5F5"/>
                </a:solidFill>
                <a:latin typeface="Noto Sans CJK KR"/>
              </a:defRPr>
            </a:pPr>
            <a:r>
              <a:rPr lang="en-US" dirty="0"/>
              <a:t>Abstract &amp; </a:t>
            </a:r>
            <a:r>
              <a:rPr dirty="0"/>
              <a:t>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221991"/>
            <a:ext cx="594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5F5F5F"/>
                </a:solidFill>
                <a:latin typeface="Noto Sans CJK KR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64208" y="2203703"/>
            <a:ext cx="594360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0">
                <a:solidFill>
                  <a:srgbClr val="F5F5F5"/>
                </a:solidFill>
                <a:latin typeface="Noto Sans CJK KR"/>
              </a:defRPr>
            </a:pPr>
            <a:r>
              <a:rPr dirty="0"/>
              <a:t>Diffusion Probabilistic Model</a:t>
            </a:r>
            <a:r>
              <a:rPr lang="en-US" dirty="0"/>
              <a:t> &amp; Background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960120" y="2935224"/>
            <a:ext cx="594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5F5F5F"/>
                </a:solidFill>
                <a:latin typeface="Noto Sans CJK KR"/>
              </a:defRPr>
            </a:pPr>
            <a: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8" y="2916936"/>
            <a:ext cx="594360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200" b="0">
                <a:solidFill>
                  <a:srgbClr val="F5F5F5"/>
                </a:solidFill>
                <a:latin typeface="Noto Sans CJK KR"/>
              </a:defRPr>
            </a:pPr>
            <a:r>
              <a:rPr dirty="0"/>
              <a:t>Forward Process</a:t>
            </a:r>
            <a:r>
              <a:rPr lang="en-US" dirty="0"/>
              <a:t> &amp; </a:t>
            </a:r>
            <a:r>
              <a:rPr lang="en-US" altLang="ko-KR" dirty="0"/>
              <a:t>Reverse Process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648456"/>
            <a:ext cx="594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5F5F5F"/>
                </a:solidFill>
                <a:latin typeface="Noto Sans CJK KR"/>
              </a:defRPr>
            </a:pPr>
            <a: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64208" y="3630168"/>
            <a:ext cx="594360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0">
                <a:solidFill>
                  <a:srgbClr val="F5F5F5"/>
                </a:solidFill>
                <a:latin typeface="Noto Sans CJK KR"/>
              </a:defRPr>
            </a:pPr>
            <a:r>
              <a:rPr lang="en-US" dirty="0"/>
              <a:t>Training Objective</a:t>
            </a:r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960120" y="4361688"/>
            <a:ext cx="594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5F5F5F"/>
                </a:solidFill>
                <a:latin typeface="Noto Sans CJK KR"/>
              </a:defRPr>
            </a:pPr>
            <a: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64208" y="4306263"/>
            <a:ext cx="594360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200" b="0">
                <a:solidFill>
                  <a:srgbClr val="F5F5F5"/>
                </a:solidFill>
                <a:latin typeface="Noto Sans CJK KR"/>
              </a:defRPr>
            </a:pPr>
            <a:r>
              <a:rPr lang="en-US" dirty="0"/>
              <a:t>Training &amp; Sampling</a:t>
            </a:r>
            <a:endParaRPr dirty="0"/>
          </a:p>
        </p:txBody>
      </p:sp>
      <p:sp>
        <p:nvSpPr>
          <p:cNvPr id="15" name="TextBox 14"/>
          <p:cNvSpPr txBox="1"/>
          <p:nvPr/>
        </p:nvSpPr>
        <p:spPr>
          <a:xfrm>
            <a:off x="960120" y="5074920"/>
            <a:ext cx="594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5F5F5F"/>
                </a:solidFill>
                <a:latin typeface="Noto Sans CJK KR"/>
              </a:defRPr>
            </a:pPr>
            <a:r>
              <a:t>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64208" y="5056632"/>
            <a:ext cx="59436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0">
                <a:solidFill>
                  <a:srgbClr val="F5F5F5"/>
                </a:solidFill>
                <a:latin typeface="Noto Sans CJK KR"/>
              </a:defRPr>
            </a:pPr>
            <a:r>
              <a:t>Model &amp; Experiments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510528"/>
            <a:ext cx="621792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00" b="0">
                <a:solidFill>
                  <a:srgbClr val="5F5F5F"/>
                </a:solidFill>
                <a:latin typeface="Noto Sans CJK KR"/>
              </a:defRPr>
            </a:pPr>
            <a:r>
              <a:rPr lang="en-US" dirty="0"/>
              <a:t>AID2026_2_Study / </a:t>
            </a:r>
            <a:r>
              <a:rPr lang="en-US" dirty="0" err="1"/>
              <a:t>AIResearchers</a:t>
            </a:r>
            <a:endParaRPr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5CEEC26-2A6F-FF24-998E-58DE64206DC4}"/>
              </a:ext>
            </a:extLst>
          </p:cNvPr>
          <p:cNvSpPr txBox="1"/>
          <p:nvPr/>
        </p:nvSpPr>
        <p:spPr>
          <a:xfrm>
            <a:off x="960120" y="5702590"/>
            <a:ext cx="59436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>
                <a:solidFill>
                  <a:srgbClr val="5F5F5F"/>
                </a:solidFill>
                <a:latin typeface="Noto Sans CJK KR"/>
              </a:defRPr>
            </a:pPr>
            <a:r>
              <a:rPr dirty="0"/>
              <a:t>0</a:t>
            </a:r>
            <a:r>
              <a:rPr lang="en-US" dirty="0"/>
              <a:t>7</a:t>
            </a:r>
            <a:endParaRPr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C7E2838-698E-2C50-AE04-30A96B7136A5}"/>
              </a:ext>
            </a:extLst>
          </p:cNvPr>
          <p:cNvSpPr txBox="1"/>
          <p:nvPr/>
        </p:nvSpPr>
        <p:spPr>
          <a:xfrm>
            <a:off x="1664208" y="5665266"/>
            <a:ext cx="594360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200" b="0">
                <a:solidFill>
                  <a:srgbClr val="F5F5F5"/>
                </a:solidFill>
                <a:latin typeface="Noto Sans CJK KR"/>
              </a:defRPr>
            </a:pPr>
            <a:r>
              <a:rPr lang="en-US" dirty="0"/>
              <a:t>Conclusion &amp; Summary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BBFA461-F550-7E6F-742D-B1E8705849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422" y="1196904"/>
            <a:ext cx="6549049" cy="4464189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CF56BADB-D68E-253F-35DD-241C7792EE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10526" y="1838313"/>
            <a:ext cx="3629052" cy="3181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9192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438912"/>
            <a:ext cx="106984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F5F5F5"/>
                </a:solidFill>
                <a:latin typeface="Noto Sans CJK KR"/>
              </a:defRPr>
            </a:pPr>
            <a:r>
              <a:rPr dirty="0"/>
              <a:t>Abstract &amp;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48463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>
                <a:solidFill>
                  <a:srgbClr val="5F5F5F"/>
                </a:solidFill>
                <a:latin typeface="Noto Sans CJK KR"/>
              </a:defRPr>
            </a:pPr>
            <a:r>
              <a:t>03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0744200" cy="10972"/>
          </a:xfrm>
          <a:prstGeom prst="rect">
            <a:avLst/>
          </a:prstGeom>
          <a:solidFill>
            <a:srgbClr val="5F5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508760"/>
            <a:ext cx="10424160" cy="23750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  <a:defRPr sz="2000">
                <a:solidFill>
                  <a:srgbClr val="F5F5F5"/>
                </a:solidFill>
                <a:latin typeface="Noto Sans CJK KR"/>
              </a:defRPr>
            </a:pPr>
            <a:r>
              <a:rPr dirty="0"/>
              <a:t>• Diffusion probabilistic models</a:t>
            </a:r>
            <a:r>
              <a:rPr lang="ko-KR" altLang="en-US" dirty="0"/>
              <a:t>은 </a:t>
            </a:r>
            <a:r>
              <a:rPr lang="en-US" altLang="ko-KR" dirty="0"/>
              <a:t>nonequilibrium thermodynamics</a:t>
            </a:r>
            <a:r>
              <a:rPr lang="ko-KR" altLang="en-US" dirty="0"/>
              <a:t>에서 영감을 받은 </a:t>
            </a:r>
            <a:r>
              <a:rPr dirty="0"/>
              <a:t>latent variable models</a:t>
            </a:r>
            <a:r>
              <a:rPr lang="ko-KR" altLang="en-US" dirty="0"/>
              <a:t>이다</a:t>
            </a:r>
            <a:r>
              <a:rPr lang="en-US" altLang="ko-KR" dirty="0"/>
              <a:t>.</a:t>
            </a:r>
            <a:endParaRPr dirty="0"/>
          </a:p>
          <a:p>
            <a:pPr>
              <a:spcAft>
                <a:spcPts val="1700"/>
              </a:spcAft>
              <a:defRPr sz="2000">
                <a:solidFill>
                  <a:srgbClr val="F5F5F5"/>
                </a:solidFill>
                <a:latin typeface="Noto Sans CJK KR"/>
              </a:defRPr>
            </a:pPr>
            <a:r>
              <a:rPr dirty="0"/>
              <a:t>• </a:t>
            </a:r>
            <a:r>
              <a:rPr lang="ko-KR" altLang="en-US" dirty="0"/>
              <a:t>모델은 </a:t>
            </a:r>
            <a:r>
              <a:rPr lang="en-US" dirty="0"/>
              <a:t>Gaussian noise</a:t>
            </a:r>
            <a:r>
              <a:rPr lang="ko-KR" altLang="en-US" dirty="0"/>
              <a:t>를 점진적으로 추가하는 </a:t>
            </a:r>
            <a:r>
              <a:rPr lang="en-US" dirty="0"/>
              <a:t>forward diffusion process</a:t>
            </a:r>
            <a:r>
              <a:rPr lang="ko-KR" altLang="en-US" dirty="0"/>
              <a:t>와 이를 제거하는 </a:t>
            </a:r>
            <a:r>
              <a:rPr lang="en-US" dirty="0"/>
              <a:t>reverse process </a:t>
            </a:r>
            <a:r>
              <a:rPr lang="ko-KR" altLang="en-US" dirty="0"/>
              <a:t>으로 구성된다</a:t>
            </a:r>
            <a:r>
              <a:rPr lang="en-US" altLang="ko-KR" dirty="0"/>
              <a:t>.</a:t>
            </a:r>
          </a:p>
          <a:p>
            <a:pPr>
              <a:spcAft>
                <a:spcPts val="1700"/>
              </a:spcAft>
              <a:defRPr sz="2000">
                <a:solidFill>
                  <a:srgbClr val="F5F5F5"/>
                </a:solidFill>
                <a:latin typeface="Noto Sans CJK KR"/>
              </a:defRPr>
            </a:pPr>
            <a:r>
              <a:rPr dirty="0"/>
              <a:t>•</a:t>
            </a:r>
            <a:r>
              <a:rPr lang="ko-KR" altLang="ko-KR" sz="2000" dirty="0">
                <a:solidFill>
                  <a:srgbClr val="F5F5F5"/>
                </a:solidFill>
                <a:latin typeface="Noto Sans CJK KR"/>
              </a:rPr>
              <a:t> </a:t>
            </a:r>
            <a:r>
              <a:rPr lang="ko-KR" altLang="ko-KR" sz="2000" dirty="0" err="1">
                <a:solidFill>
                  <a:srgbClr val="F5F5F5"/>
                </a:solidFill>
                <a:latin typeface="Noto Sans CJK KR"/>
              </a:rPr>
              <a:t>DDPM은</a:t>
            </a:r>
            <a:r>
              <a:rPr lang="en-US" altLang="ko-KR" sz="2000" dirty="0">
                <a:solidFill>
                  <a:srgbClr val="F5F5F5"/>
                </a:solidFill>
                <a:latin typeface="Noto Sans CJK KR"/>
              </a:rPr>
              <a:t> </a:t>
            </a:r>
            <a:r>
              <a:rPr lang="ko-KR" altLang="en-US" sz="2000" dirty="0">
                <a:solidFill>
                  <a:srgbClr val="F5F5F5"/>
                </a:solidFill>
                <a:latin typeface="Noto Sans CJK KR"/>
              </a:rPr>
              <a:t>각 단계에서 </a:t>
            </a:r>
            <a:r>
              <a:rPr lang="en-US" altLang="ko-KR" sz="2000" dirty="0">
                <a:solidFill>
                  <a:srgbClr val="F5F5F5"/>
                </a:solidFill>
                <a:latin typeface="Noto Sans CJK KR"/>
              </a:rPr>
              <a:t>denoising score matching</a:t>
            </a:r>
            <a:r>
              <a:rPr lang="ko-KR" altLang="en-US" sz="2000" dirty="0">
                <a:solidFill>
                  <a:srgbClr val="F5F5F5"/>
                </a:solidFill>
                <a:latin typeface="Noto Sans CJK KR"/>
              </a:rPr>
              <a:t>를 사용하여 추가되는 노이즈를 예측하며 신경망을 학습시킨다</a:t>
            </a:r>
            <a:r>
              <a:rPr lang="en-US" altLang="ko-KR" sz="2000" dirty="0">
                <a:solidFill>
                  <a:srgbClr val="F5F5F5"/>
                </a:solidFill>
                <a:latin typeface="Noto Sans CJK KR"/>
              </a:rPr>
              <a:t>.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868680" y="4370832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B4B4B4"/>
                </a:solidFill>
                <a:latin typeface="Noto Sans CJK KR"/>
              </a:defRPr>
            </a:pPr>
            <a:r>
              <a:rPr lang="ko-KR" altLang="en-US" dirty="0"/>
              <a:t>핵심 아이디어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868680" y="4800600"/>
            <a:ext cx="1014984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>
                <a:solidFill>
                  <a:srgbClr val="F5F5F5"/>
                </a:solidFill>
                <a:latin typeface="Noto Sans CJK KR"/>
              </a:defRPr>
            </a:pPr>
            <a:r>
              <a:rPr dirty="0"/>
              <a:t>q(x₁:T | x₀)  : </a:t>
            </a:r>
            <a:r>
              <a:rPr lang="en-US" dirty="0"/>
              <a:t>fixed</a:t>
            </a:r>
            <a:r>
              <a:rPr dirty="0"/>
              <a:t> forward process   </a:t>
            </a:r>
            <a:r>
              <a:rPr lang="en-US" dirty="0"/>
              <a:t>-&gt;</a:t>
            </a:r>
            <a:r>
              <a:rPr dirty="0"/>
              <a:t>    </a:t>
            </a:r>
            <a:r>
              <a:rPr dirty="0" err="1"/>
              <a:t>pθ</a:t>
            </a:r>
            <a:r>
              <a:rPr dirty="0"/>
              <a:t>(x₀:T)  : </a:t>
            </a:r>
            <a:r>
              <a:rPr lang="en-US" altLang="ko-KR" dirty="0"/>
              <a:t>learned</a:t>
            </a:r>
            <a:r>
              <a:rPr dirty="0"/>
              <a:t> reverse process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FC2FB01-FFF4-42B5-989D-DD8A2D1F070A}"/>
              </a:ext>
            </a:extLst>
          </p:cNvPr>
          <p:cNvSpPr txBox="1"/>
          <p:nvPr/>
        </p:nvSpPr>
        <p:spPr>
          <a:xfrm>
            <a:off x="731520" y="6510528"/>
            <a:ext cx="621792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00" b="0">
                <a:solidFill>
                  <a:srgbClr val="5F5F5F"/>
                </a:solidFill>
                <a:latin typeface="Noto Sans CJK KR"/>
              </a:defRPr>
            </a:pPr>
            <a:r>
              <a:rPr lang="en-US" dirty="0"/>
              <a:t>AID2026_2_Study / </a:t>
            </a:r>
            <a:r>
              <a:rPr lang="en-US" dirty="0" err="1"/>
              <a:t>AIResearchers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438912"/>
            <a:ext cx="106984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F5F5F5"/>
                </a:solidFill>
                <a:latin typeface="Noto Sans CJK KR"/>
              </a:defRPr>
            </a:pPr>
            <a:r>
              <a:t>Diffusion Probabilistic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48463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>
                <a:solidFill>
                  <a:srgbClr val="5F5F5F"/>
                </a:solidFill>
                <a:latin typeface="Noto Sans CJK KR"/>
              </a:defRPr>
            </a:pPr>
            <a:r>
              <a:t>04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0744200" cy="10972"/>
          </a:xfrm>
          <a:prstGeom prst="rect">
            <a:avLst/>
          </a:prstGeom>
          <a:solidFill>
            <a:srgbClr val="5F5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417320"/>
            <a:ext cx="1051560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000" b="0">
                <a:solidFill>
                  <a:srgbClr val="F5F5F5"/>
                </a:solidFill>
                <a:latin typeface="Noto Sans CJK KR"/>
              </a:defRPr>
            </a:pPr>
            <a:r>
              <a:rPr lang="ko-KR" altLang="en-US" dirty="0"/>
              <a:t>생성모델은</a:t>
            </a:r>
            <a:r>
              <a:rPr lang="en-US" altLang="ko-KR" dirty="0"/>
              <a:t> diffusion process</a:t>
            </a:r>
            <a:r>
              <a:rPr lang="ko-KR" altLang="en-US" dirty="0"/>
              <a:t>를 역행하도록 학습된 매개변수 </a:t>
            </a:r>
            <a:r>
              <a:rPr lang="ko-KR" altLang="ko-KR" sz="2000" dirty="0" err="1">
                <a:solidFill>
                  <a:srgbClr val="F5F5F5"/>
                </a:solidFill>
                <a:latin typeface="Noto Sans CJK KR"/>
              </a:rPr>
              <a:t>Markov</a:t>
            </a:r>
            <a:r>
              <a:rPr lang="ko-KR" altLang="ko-KR" sz="2000" dirty="0">
                <a:solidFill>
                  <a:srgbClr val="F5F5F5"/>
                </a:solidFill>
                <a:latin typeface="Noto Sans CJK KR"/>
              </a:rPr>
              <a:t> </a:t>
            </a:r>
            <a:r>
              <a:rPr lang="ko-KR" altLang="ko-KR" sz="2000" dirty="0" err="1">
                <a:solidFill>
                  <a:srgbClr val="F5F5F5"/>
                </a:solidFill>
                <a:latin typeface="Noto Sans CJK KR"/>
              </a:rPr>
              <a:t>chain</a:t>
            </a:r>
            <a:r>
              <a:rPr lang="ko-KR" altLang="en-US" sz="2000" dirty="0" err="1">
                <a:solidFill>
                  <a:srgbClr val="F5F5F5"/>
                </a:solidFill>
                <a:latin typeface="Noto Sans CJK KR"/>
              </a:rPr>
              <a:t>이다</a:t>
            </a:r>
            <a:r>
              <a:rPr lang="en-US" altLang="ko-KR" sz="2000" dirty="0">
                <a:solidFill>
                  <a:srgbClr val="F5F5F5"/>
                </a:solidFill>
                <a:latin typeface="Noto Sans CJK KR"/>
              </a:rPr>
              <a:t>!</a:t>
            </a:r>
            <a:r>
              <a:rPr lang="en-US" altLang="ko-KR" dirty="0"/>
              <a:t>!</a:t>
            </a:r>
            <a:endParaRPr dirty="0"/>
          </a:p>
        </p:txBody>
      </p:sp>
      <p:pic>
        <p:nvPicPr>
          <p:cNvPr id="6" name="Picture 5" descr="s3_img2_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085241"/>
            <a:ext cx="10241280" cy="235833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60120" y="4736592"/>
            <a:ext cx="1432206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B4B4B4"/>
                </a:solidFill>
                <a:latin typeface="Noto Sans CJK KR"/>
              </a:defRPr>
            </a:pPr>
            <a:r>
              <a:rPr dirty="0"/>
              <a:t>Forward</a:t>
            </a:r>
            <a:r>
              <a:rPr lang="en-US" dirty="0"/>
              <a:t> </a:t>
            </a:r>
            <a:r>
              <a:rPr lang="en-US" dirty="0" err="1"/>
              <a:t>procee</a:t>
            </a:r>
            <a:endParaRPr dirty="0"/>
          </a:p>
        </p:txBody>
      </p:sp>
      <p:sp>
        <p:nvSpPr>
          <p:cNvPr id="8" name="TextBox 7"/>
          <p:cNvSpPr txBox="1"/>
          <p:nvPr/>
        </p:nvSpPr>
        <p:spPr>
          <a:xfrm>
            <a:off x="2727961" y="4681728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0">
                <a:solidFill>
                  <a:srgbClr val="F5F5F5"/>
                </a:solidFill>
                <a:latin typeface="Noto Sans CJK KR"/>
              </a:defRPr>
            </a:pPr>
            <a:r>
              <a:rPr dirty="0"/>
              <a:t>x₀ → x₁ → ··· → </a:t>
            </a:r>
            <a:r>
              <a:rPr dirty="0" err="1"/>
              <a:t>xT</a:t>
            </a:r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6400799" y="4736592"/>
            <a:ext cx="1432205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B4B4B4"/>
                </a:solidFill>
                <a:latin typeface="Noto Sans CJK KR"/>
              </a:defRPr>
            </a:pPr>
            <a:r>
              <a:rPr dirty="0"/>
              <a:t>Reverse</a:t>
            </a:r>
            <a:r>
              <a:rPr lang="en-US" dirty="0"/>
              <a:t> process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8138160" y="4681728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0">
                <a:solidFill>
                  <a:srgbClr val="F5F5F5"/>
                </a:solidFill>
                <a:latin typeface="Noto Sans CJK KR"/>
              </a:defRPr>
            </a:pPr>
            <a:r>
              <a:rPr dirty="0" err="1"/>
              <a:t>xT</a:t>
            </a:r>
            <a:r>
              <a:rPr dirty="0"/>
              <a:t> → ··· → x₁ → x₀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6773ED6-926E-90CE-1E8D-0408B4E7B4C6}"/>
              </a:ext>
            </a:extLst>
          </p:cNvPr>
          <p:cNvSpPr txBox="1"/>
          <p:nvPr/>
        </p:nvSpPr>
        <p:spPr>
          <a:xfrm>
            <a:off x="731520" y="6510528"/>
            <a:ext cx="621792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00" b="0">
                <a:solidFill>
                  <a:srgbClr val="5F5F5F"/>
                </a:solidFill>
                <a:latin typeface="Noto Sans CJK KR"/>
              </a:defRPr>
            </a:pPr>
            <a:r>
              <a:rPr lang="en-US" dirty="0"/>
              <a:t>AID2026_2_Study / </a:t>
            </a:r>
            <a:r>
              <a:rPr lang="en-US" dirty="0" err="1"/>
              <a:t>AIResearchers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438912"/>
            <a:ext cx="106984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F5F5F5"/>
                </a:solidFill>
                <a:latin typeface="Noto Sans CJK KR"/>
              </a:defRPr>
            </a:pPr>
            <a:r>
              <a:t>Background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48463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>
                <a:solidFill>
                  <a:srgbClr val="5F5F5F"/>
                </a:solidFill>
                <a:latin typeface="Noto Sans CJK KR"/>
              </a:defRPr>
            </a:pPr>
            <a:r>
              <a:t>05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0744200" cy="10972"/>
          </a:xfrm>
          <a:prstGeom prst="rect">
            <a:avLst/>
          </a:prstGeom>
          <a:solidFill>
            <a:srgbClr val="5F5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41732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B4B4B4"/>
                </a:solidFill>
                <a:latin typeface="Noto Sans CJK KR"/>
              </a:defRPr>
            </a:pPr>
            <a:r>
              <a:rPr dirty="0"/>
              <a:t>Reverse process</a:t>
            </a:r>
          </a:p>
        </p:txBody>
      </p:sp>
      <p:pic>
        <p:nvPicPr>
          <p:cNvPr id="6" name="Picture 5" descr="s4_img2_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952" y="1810512"/>
            <a:ext cx="10359614" cy="98755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68680" y="3063240"/>
            <a:ext cx="1828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B4B4B4"/>
                </a:solidFill>
                <a:latin typeface="Noto Sans CJK KR"/>
              </a:defRPr>
            </a:pPr>
            <a:r>
              <a:rPr dirty="0"/>
              <a:t>Forward process</a:t>
            </a:r>
          </a:p>
        </p:txBody>
      </p:sp>
      <p:pic>
        <p:nvPicPr>
          <p:cNvPr id="8" name="Picture 7" descr="s4_img3_gra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926" y="3474720"/>
            <a:ext cx="10297668" cy="1325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68680" y="5230368"/>
            <a:ext cx="10332720" cy="3847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900" b="0">
                <a:solidFill>
                  <a:srgbClr val="F5F5F5"/>
                </a:solidFill>
                <a:latin typeface="Noto Sans CJK KR"/>
              </a:defRPr>
            </a:pPr>
            <a:r>
              <a:rPr dirty="0"/>
              <a:t>βt ∈ (0,1)</a:t>
            </a:r>
            <a:r>
              <a:rPr lang="ko-KR" altLang="en-US" dirty="0"/>
              <a:t>는 시간 </a:t>
            </a:r>
            <a:r>
              <a:rPr lang="en-US" altLang="ko-KR" dirty="0"/>
              <a:t>t</a:t>
            </a:r>
            <a:r>
              <a:rPr lang="ko-KR" altLang="en-US" dirty="0"/>
              <a:t>에서 추가되는 </a:t>
            </a:r>
            <a:r>
              <a:rPr lang="en-US" altLang="ko-KR" dirty="0"/>
              <a:t>Gaussian noise</a:t>
            </a:r>
            <a:r>
              <a:rPr lang="ko-KR" altLang="en-US" dirty="0"/>
              <a:t>의 크기를 조절한다</a:t>
            </a:r>
            <a:r>
              <a:rPr lang="en-US" altLang="ko-KR" dirty="0"/>
              <a:t>.</a:t>
            </a:r>
            <a:endParaRPr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9BC7340-8358-3E44-036A-1867D1FD5D71}"/>
              </a:ext>
            </a:extLst>
          </p:cNvPr>
          <p:cNvSpPr txBox="1"/>
          <p:nvPr/>
        </p:nvSpPr>
        <p:spPr>
          <a:xfrm>
            <a:off x="731520" y="6510528"/>
            <a:ext cx="621792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00" b="0">
                <a:solidFill>
                  <a:srgbClr val="5F5F5F"/>
                </a:solidFill>
                <a:latin typeface="Noto Sans CJK KR"/>
              </a:defRPr>
            </a:pPr>
            <a:r>
              <a:rPr lang="en-US" dirty="0"/>
              <a:t>AID2026_2_Study / </a:t>
            </a:r>
            <a:r>
              <a:rPr lang="en-US" dirty="0" err="1"/>
              <a:t>AIResearchers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438912"/>
            <a:ext cx="106984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F5F5F5"/>
                </a:solidFill>
                <a:latin typeface="Noto Sans CJK KR"/>
              </a:defRPr>
            </a:pPr>
            <a:r>
              <a:t>Forward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48463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>
                <a:solidFill>
                  <a:srgbClr val="5F5F5F"/>
                </a:solidFill>
                <a:latin typeface="Noto Sans CJK KR"/>
              </a:defRPr>
            </a:pPr>
            <a:r>
              <a:t>06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0744200" cy="10972"/>
          </a:xfrm>
          <a:prstGeom prst="rect">
            <a:avLst/>
          </a:prstGeom>
          <a:solidFill>
            <a:srgbClr val="5F5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353312"/>
            <a:ext cx="10378440" cy="3847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900" b="0">
                <a:solidFill>
                  <a:srgbClr val="F5F5F5"/>
                </a:solidFill>
                <a:latin typeface="Noto Sans CJK KR"/>
              </a:defRPr>
            </a:pPr>
            <a:r>
              <a:rPr dirty="0"/>
              <a:t>forward process </a:t>
            </a:r>
            <a:r>
              <a:rPr lang="en-US" altLang="ko-KR" dirty="0">
                <a:solidFill>
                  <a:srgbClr val="FFFFFF"/>
                </a:solidFill>
                <a:latin typeface="Malgun Gothic"/>
              </a:rPr>
              <a:t>q</a:t>
            </a:r>
            <a:r>
              <a:rPr lang="ko-KR" altLang="en-US" dirty="0">
                <a:solidFill>
                  <a:srgbClr val="FFFFFF"/>
                </a:solidFill>
                <a:latin typeface="Malgun Gothic"/>
              </a:rPr>
              <a:t>는 고정되어 있으며</a:t>
            </a:r>
            <a:r>
              <a:rPr lang="en-US" altLang="ko-KR" dirty="0">
                <a:solidFill>
                  <a:srgbClr val="FFFFFF"/>
                </a:solidFill>
                <a:latin typeface="Malgun Gothic"/>
              </a:rPr>
              <a:t>, x₀</a:t>
            </a:r>
            <a:r>
              <a:rPr lang="ko-KR" altLang="en-US" dirty="0">
                <a:solidFill>
                  <a:srgbClr val="FFFFFF"/>
                </a:solidFill>
                <a:latin typeface="Malgun Gothic"/>
              </a:rPr>
              <a:t>에 </a:t>
            </a:r>
            <a:r>
              <a:rPr lang="en-US" altLang="ko-KR" dirty="0">
                <a:solidFill>
                  <a:srgbClr val="FFFFFF"/>
                </a:solidFill>
                <a:latin typeface="Malgun Gothic"/>
              </a:rPr>
              <a:t>Gaussian noise</a:t>
            </a:r>
            <a:r>
              <a:rPr lang="ko-KR" altLang="en-US" dirty="0">
                <a:solidFill>
                  <a:srgbClr val="FFFFFF"/>
                </a:solidFill>
                <a:latin typeface="Malgun Gothic"/>
              </a:rPr>
              <a:t>를 점진적으로 추가한다</a:t>
            </a:r>
            <a:r>
              <a:rPr lang="en-US" altLang="ko-KR" dirty="0">
                <a:solidFill>
                  <a:srgbClr val="FFFFFF"/>
                </a:solidFill>
                <a:latin typeface="Malgun Gothic"/>
              </a:rPr>
              <a:t>.</a:t>
            </a:r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914400" y="1993392"/>
            <a:ext cx="10287000" cy="713232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24128" y="2048256"/>
            <a:ext cx="10067544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300">
                <a:solidFill>
                  <a:srgbClr val="000000"/>
                </a:solidFill>
                <a:latin typeface="Cambria Math"/>
              </a:defRPr>
            </a:pPr>
            <a:r>
              <a:t>q(xₜ | xₜ₋₁) = 𝒩(xₜ ; √(1−βₜ) xₜ₋₁, βₜ I)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054096"/>
            <a:ext cx="10378440" cy="3847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900" b="0">
                <a:solidFill>
                  <a:srgbClr val="F5F5F5"/>
                </a:solidFill>
                <a:latin typeface="Noto Sans CJK KR"/>
              </a:defRPr>
            </a:pPr>
            <a:r>
              <a:rPr dirty="0"/>
              <a:t>αₜ = 1 − βₜ and  ᾱₜ = ∏ˢ₌₁ᵗ αₛ</a:t>
            </a:r>
            <a:r>
              <a:rPr lang="ko-KR" altLang="en-US" dirty="0"/>
              <a:t>로 정의하면</a:t>
            </a:r>
            <a:r>
              <a:rPr lang="en-US" altLang="ko-KR" dirty="0"/>
              <a:t>, xₜ</a:t>
            </a:r>
            <a:r>
              <a:rPr lang="ko-KR" altLang="en-US" dirty="0"/>
              <a:t>는 </a:t>
            </a:r>
            <a:r>
              <a:rPr lang="en-US" altLang="ko-KR" dirty="0"/>
              <a:t>x₀</a:t>
            </a:r>
            <a:r>
              <a:rPr lang="ko-KR" altLang="en-US" dirty="0"/>
              <a:t>에서 직접 </a:t>
            </a:r>
            <a:r>
              <a:rPr lang="ko-KR" altLang="en-US" dirty="0" err="1"/>
              <a:t>샘플링할</a:t>
            </a:r>
            <a:r>
              <a:rPr lang="ko-KR" altLang="en-US" dirty="0"/>
              <a:t> 수 있다</a:t>
            </a:r>
            <a:r>
              <a:rPr lang="en-US" altLang="ko-KR" dirty="0"/>
              <a:t>.</a:t>
            </a:r>
            <a:endParaRPr dirty="0"/>
          </a:p>
        </p:txBody>
      </p:sp>
      <p:sp>
        <p:nvSpPr>
          <p:cNvPr id="9" name="Rectangle 8"/>
          <p:cNvSpPr/>
          <p:nvPr/>
        </p:nvSpPr>
        <p:spPr>
          <a:xfrm>
            <a:off x="914400" y="3822191"/>
            <a:ext cx="10287000" cy="658368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24128" y="3877055"/>
            <a:ext cx="10067544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>
                <a:solidFill>
                  <a:srgbClr val="000000"/>
                </a:solidFill>
                <a:latin typeface="Cambria Math"/>
              </a:defRPr>
            </a:pPr>
            <a:r>
              <a:rPr dirty="0"/>
              <a:t>q(xₜ | x₀) = 𝒩(xₜ ; √ᾱₜ x₀, (1−ᾱₜ)I)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4736592"/>
            <a:ext cx="10287000" cy="658368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24128" y="4791455"/>
            <a:ext cx="10067544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>
                <a:solidFill>
                  <a:srgbClr val="000000"/>
                </a:solidFill>
                <a:latin typeface="Cambria Math"/>
              </a:defRPr>
            </a:pPr>
            <a:r>
              <a:rPr dirty="0"/>
              <a:t>xₜ = √ᾱₜ x₀ + √(1−ᾱₜ) ε,      ε ~ 𝒩(0,I)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1B21657-DB99-E8AC-0DCE-1684195A2964}"/>
              </a:ext>
            </a:extLst>
          </p:cNvPr>
          <p:cNvSpPr txBox="1"/>
          <p:nvPr/>
        </p:nvSpPr>
        <p:spPr>
          <a:xfrm>
            <a:off x="731520" y="6510528"/>
            <a:ext cx="621792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00" b="0">
                <a:solidFill>
                  <a:srgbClr val="5F5F5F"/>
                </a:solidFill>
                <a:latin typeface="Noto Sans CJK KR"/>
              </a:defRPr>
            </a:pPr>
            <a:r>
              <a:rPr lang="en-US" dirty="0"/>
              <a:t>AID2026_2_Study / </a:t>
            </a:r>
            <a:r>
              <a:rPr lang="en-US" dirty="0" err="1"/>
              <a:t>AIResearchers</a:t>
            </a: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6C813B4D-A660-6BCA-05C1-51BA3AF10A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461" y="197117"/>
            <a:ext cx="7161077" cy="2139812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99A56549-859A-862D-2E94-5A1D820F1A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7365" y="2722749"/>
            <a:ext cx="7217268" cy="3596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84436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438912"/>
            <a:ext cx="106984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F5F5F5"/>
                </a:solidFill>
                <a:latin typeface="Noto Sans CJK KR"/>
              </a:defRPr>
            </a:pPr>
            <a:r>
              <a:t>Reverse Process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48463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>
                <a:solidFill>
                  <a:srgbClr val="5F5F5F"/>
                </a:solidFill>
                <a:latin typeface="Noto Sans CJK KR"/>
              </a:defRPr>
            </a:pPr>
            <a:r>
              <a:t>07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0744200" cy="10972"/>
          </a:xfrm>
          <a:prstGeom prst="rect">
            <a:avLst/>
          </a:prstGeom>
          <a:solidFill>
            <a:srgbClr val="5F5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371600"/>
            <a:ext cx="10332720" cy="3847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900" b="0">
                <a:solidFill>
                  <a:srgbClr val="F5F5F5"/>
                </a:solidFill>
                <a:latin typeface="Noto Sans CJK KR"/>
              </a:defRPr>
            </a:pPr>
            <a:r>
              <a:rPr lang="en-US" altLang="ko-KR" dirty="0">
                <a:solidFill>
                  <a:srgbClr val="FFFFFF"/>
                </a:solidFill>
                <a:latin typeface="Malgun Gothic"/>
              </a:rPr>
              <a:t>reverse</a:t>
            </a:r>
            <a:r>
              <a:rPr lang="ko-KR" altLang="en-US" dirty="0">
                <a:solidFill>
                  <a:srgbClr val="FFFFFF"/>
                </a:solidFill>
                <a:latin typeface="Malgun Gothic"/>
              </a:rPr>
              <a:t> </a:t>
            </a:r>
            <a:r>
              <a:rPr lang="en-US" altLang="ko-KR" dirty="0">
                <a:solidFill>
                  <a:srgbClr val="FFFFFF"/>
                </a:solidFill>
                <a:latin typeface="Malgun Gothic"/>
              </a:rPr>
              <a:t>process</a:t>
            </a:r>
            <a:r>
              <a:rPr lang="ko-KR" altLang="en-US" dirty="0">
                <a:solidFill>
                  <a:srgbClr val="FFFFFF"/>
                </a:solidFill>
                <a:latin typeface="Malgun Gothic"/>
              </a:rPr>
              <a:t>는 평균과 분산이 </a:t>
            </a:r>
            <a:r>
              <a:rPr lang="en-US" altLang="ko-KR" dirty="0">
                <a:solidFill>
                  <a:srgbClr val="FFFFFF"/>
                </a:solidFill>
                <a:latin typeface="Malgun Gothic"/>
              </a:rPr>
              <a:t>θ</a:t>
            </a:r>
            <a:r>
              <a:rPr lang="ko-KR" altLang="en-US" dirty="0">
                <a:solidFill>
                  <a:srgbClr val="FFFFFF"/>
                </a:solidFill>
                <a:latin typeface="Malgun Gothic"/>
              </a:rPr>
              <a:t>로 </a:t>
            </a:r>
            <a:r>
              <a:rPr lang="ko-KR" altLang="en-US" dirty="0" err="1">
                <a:solidFill>
                  <a:srgbClr val="FFFFFF"/>
                </a:solidFill>
                <a:latin typeface="Malgun Gothic"/>
              </a:rPr>
              <a:t>매개변수화된</a:t>
            </a:r>
            <a:r>
              <a:rPr lang="ko-KR" altLang="en-US" dirty="0">
                <a:solidFill>
                  <a:srgbClr val="FFFFFF"/>
                </a:solidFill>
                <a:latin typeface="Malgun Gothic"/>
              </a:rPr>
              <a:t> </a:t>
            </a:r>
            <a:r>
              <a:rPr lang="en-US" altLang="ko-KR" dirty="0">
                <a:solidFill>
                  <a:srgbClr val="FFFFFF"/>
                </a:solidFill>
                <a:latin typeface="Malgun Gothic"/>
              </a:rPr>
              <a:t>Gaussian transition</a:t>
            </a:r>
            <a:r>
              <a:rPr lang="ko-KR" altLang="en-US" dirty="0">
                <a:solidFill>
                  <a:srgbClr val="FFFFFF"/>
                </a:solidFill>
                <a:latin typeface="Malgun Gothic"/>
              </a:rPr>
              <a:t>으로 </a:t>
            </a:r>
            <a:r>
              <a:rPr lang="ko-KR" altLang="en-US" dirty="0" err="1">
                <a:solidFill>
                  <a:srgbClr val="FFFFFF"/>
                </a:solidFill>
                <a:latin typeface="Malgun Gothic"/>
              </a:rPr>
              <a:t>모델링된다</a:t>
            </a:r>
            <a:r>
              <a:rPr lang="en-US" altLang="ko-KR" dirty="0">
                <a:solidFill>
                  <a:srgbClr val="FFFFFF"/>
                </a:solidFill>
                <a:latin typeface="Malgun Gothic"/>
              </a:rPr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011680"/>
            <a:ext cx="10241280" cy="713232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24128" y="2066544"/>
            <a:ext cx="10021824" cy="6035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300">
                <a:solidFill>
                  <a:srgbClr val="000000"/>
                </a:solidFill>
                <a:latin typeface="Cambria Math"/>
              </a:defRPr>
            </a:pPr>
            <a:r>
              <a:rPr dirty="0" err="1"/>
              <a:t>pθ</a:t>
            </a:r>
            <a:r>
              <a:rPr dirty="0"/>
              <a:t>(xₜ₋₁ | xₜ) = 𝒩(xₜ₋₁ ; </a:t>
            </a:r>
            <a:r>
              <a:rPr dirty="0" err="1"/>
              <a:t>μθ</a:t>
            </a:r>
            <a:r>
              <a:rPr dirty="0"/>
              <a:t>(</a:t>
            </a:r>
            <a:r>
              <a:rPr dirty="0" err="1"/>
              <a:t>xₜ,t</a:t>
            </a:r>
            <a:r>
              <a:rPr dirty="0"/>
              <a:t>), </a:t>
            </a:r>
            <a:r>
              <a:rPr dirty="0" err="1"/>
              <a:t>Σθ</a:t>
            </a:r>
            <a:r>
              <a:rPr dirty="0"/>
              <a:t>(</a:t>
            </a:r>
            <a:r>
              <a:rPr dirty="0" err="1"/>
              <a:t>xₜ,t</a:t>
            </a:r>
            <a:r>
              <a:rPr dirty="0"/>
              <a:t>))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035808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700" b="0">
                <a:solidFill>
                  <a:srgbClr val="B4B4B4"/>
                </a:solidFill>
                <a:latin typeface="Noto Sans CJK KR"/>
              </a:defRPr>
            </a:pPr>
            <a:r>
              <a:rPr lang="en-US" altLang="ko-KR" dirty="0">
                <a:solidFill>
                  <a:srgbClr val="FFFFFF"/>
                </a:solidFill>
                <a:latin typeface="Malgun Gothic"/>
              </a:rPr>
              <a:t>x₀</a:t>
            </a:r>
            <a:r>
              <a:rPr lang="ko-KR" altLang="en-US" dirty="0">
                <a:solidFill>
                  <a:srgbClr val="FFFFFF"/>
                </a:solidFill>
                <a:latin typeface="Malgun Gothic"/>
              </a:rPr>
              <a:t>가 주어졌을 때의 순방향 </a:t>
            </a:r>
            <a:r>
              <a:rPr lang="en-US" altLang="ko-KR" dirty="0">
                <a:solidFill>
                  <a:srgbClr val="FFFFFF"/>
                </a:solidFill>
                <a:latin typeface="Malgun Gothic"/>
              </a:rPr>
              <a:t>posterior: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547872"/>
            <a:ext cx="10241280" cy="658368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24128" y="3602736"/>
            <a:ext cx="10021824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100">
                <a:solidFill>
                  <a:srgbClr val="000000"/>
                </a:solidFill>
                <a:latin typeface="Cambria Math"/>
              </a:defRPr>
            </a:pPr>
            <a:r>
              <a:rPr dirty="0"/>
              <a:t>q(xₜ₋₁ | xₜ, x₀) = 𝒩(xₜ₋₁ ; μ̃ₜ(</a:t>
            </a:r>
            <a:r>
              <a:rPr dirty="0" err="1"/>
              <a:t>xₜ,x</a:t>
            </a:r>
            <a:r>
              <a:rPr dirty="0"/>
              <a:t>₀), β̃ₜ I)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590288"/>
            <a:ext cx="10058400" cy="3847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900" b="0">
                <a:solidFill>
                  <a:srgbClr val="F5F5F5"/>
                </a:solidFill>
                <a:latin typeface="Noto Sans CJK KR"/>
              </a:defRPr>
            </a:pPr>
            <a:r>
              <a:rPr lang="ko-KR" altLang="en-US" dirty="0">
                <a:solidFill>
                  <a:srgbClr val="FFFFFF"/>
                </a:solidFill>
                <a:latin typeface="Malgun Gothic"/>
              </a:rPr>
              <a:t>학습은 실제 </a:t>
            </a:r>
            <a:r>
              <a:rPr lang="en-US" altLang="ko-KR" dirty="0">
                <a:solidFill>
                  <a:srgbClr val="FFFFFF"/>
                </a:solidFill>
                <a:latin typeface="Malgun Gothic"/>
              </a:rPr>
              <a:t>posterior mean μ̃ₜ</a:t>
            </a:r>
            <a:r>
              <a:rPr lang="ko-KR" altLang="en-US" dirty="0">
                <a:solidFill>
                  <a:srgbClr val="FFFFFF"/>
                </a:solidFill>
                <a:latin typeface="Malgun Gothic"/>
              </a:rPr>
              <a:t>와 모델 평균 </a:t>
            </a:r>
            <a:r>
              <a:rPr lang="en-US" altLang="ko-KR" dirty="0" err="1">
                <a:solidFill>
                  <a:srgbClr val="FFFFFF"/>
                </a:solidFill>
                <a:latin typeface="Malgun Gothic"/>
              </a:rPr>
              <a:t>μθ</a:t>
            </a:r>
            <a:r>
              <a:rPr lang="ko-KR" altLang="en-US" dirty="0">
                <a:solidFill>
                  <a:srgbClr val="FFFFFF"/>
                </a:solidFill>
                <a:latin typeface="Malgun Gothic"/>
              </a:rPr>
              <a:t> 사이의 차이를 줄이는 방향으로 진행된다</a:t>
            </a:r>
            <a:r>
              <a:rPr lang="en-US" altLang="ko-KR" dirty="0">
                <a:solidFill>
                  <a:srgbClr val="FFFFFF"/>
                </a:solidFill>
                <a:latin typeface="Malgun Gothic"/>
              </a:rPr>
              <a:t>.</a:t>
            </a:r>
          </a:p>
        </p:txBody>
      </p:sp>
      <p:pic>
        <p:nvPicPr>
          <p:cNvPr id="12" name="Picture 11" descr="s6_img2_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4650" y="5138928"/>
            <a:ext cx="5446498" cy="76809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A79216B-6491-4C56-7C6A-DE29D990DA41}"/>
              </a:ext>
            </a:extLst>
          </p:cNvPr>
          <p:cNvSpPr txBox="1"/>
          <p:nvPr/>
        </p:nvSpPr>
        <p:spPr>
          <a:xfrm>
            <a:off x="731520" y="6510528"/>
            <a:ext cx="621792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00" b="0">
                <a:solidFill>
                  <a:srgbClr val="5F5F5F"/>
                </a:solidFill>
                <a:latin typeface="Noto Sans CJK KR"/>
              </a:defRPr>
            </a:pPr>
            <a:r>
              <a:rPr lang="en-US" dirty="0"/>
              <a:t>AID2026_2_Study / </a:t>
            </a:r>
            <a:r>
              <a:rPr lang="en-US" dirty="0" err="1"/>
              <a:t>AIResearchers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F8C4730A-4CEF-CAED-5064-1EEA668412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315" y="2473855"/>
            <a:ext cx="9145369" cy="3807534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287218CC-4F6C-CA3C-FC7D-03EC310566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17097" y="854351"/>
            <a:ext cx="3257574" cy="1057283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6B0A18C1-9DAC-8D27-A1B1-B82ABA6CA0C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2404" y="578125"/>
            <a:ext cx="6115095" cy="1609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11495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780CCF-2C06-B57F-5143-52990331A1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2C2D318B-7F0E-C7C0-2439-3545F2F69075}"/>
              </a:ext>
            </a:extLst>
          </p:cNvPr>
          <p:cNvSpPr txBox="1"/>
          <p:nvPr/>
        </p:nvSpPr>
        <p:spPr>
          <a:xfrm>
            <a:off x="731520" y="6510528"/>
            <a:ext cx="621792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00" b="0">
                <a:solidFill>
                  <a:srgbClr val="5F5F5F"/>
                </a:solidFill>
                <a:latin typeface="Noto Sans CJK KR"/>
              </a:defRPr>
            </a:pPr>
            <a:r>
              <a:rPr lang="en-US" dirty="0"/>
              <a:t>AID2026_2_Study / </a:t>
            </a:r>
            <a:r>
              <a:rPr lang="en-US" dirty="0" err="1"/>
              <a:t>AIResearchers</a:t>
            </a:r>
            <a:endParaRPr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919B54B-A362-8902-26C2-613C859EF556}"/>
              </a:ext>
            </a:extLst>
          </p:cNvPr>
          <p:cNvSpPr txBox="1"/>
          <p:nvPr/>
        </p:nvSpPr>
        <p:spPr>
          <a:xfrm>
            <a:off x="713232" y="438912"/>
            <a:ext cx="3288080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lang="en-US" altLang="ko-KR" sz="3200" b="1" dirty="0">
                <a:solidFill>
                  <a:srgbClr val="F5F5F5"/>
                </a:solidFill>
                <a:latin typeface="Noto Sans CJK KR"/>
              </a:rPr>
              <a:t>Training Objective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05F0E5C-06DA-2376-1C42-E80E6D20D978}"/>
              </a:ext>
            </a:extLst>
          </p:cNvPr>
          <p:cNvSpPr txBox="1"/>
          <p:nvPr/>
        </p:nvSpPr>
        <p:spPr>
          <a:xfrm>
            <a:off x="11064240" y="484632"/>
            <a:ext cx="34176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dirty="0">
                <a:solidFill>
                  <a:srgbClr val="A0A0A0"/>
                </a:solidFill>
                <a:latin typeface="Noto Sans CJK KR"/>
              </a:rPr>
              <a:t>0</a:t>
            </a:r>
            <a:r>
              <a:rPr lang="en-US" sz="1200" dirty="0">
                <a:solidFill>
                  <a:srgbClr val="A0A0A0"/>
                </a:solidFill>
                <a:latin typeface="Noto Sans CJK KR"/>
              </a:rPr>
              <a:t>7</a:t>
            </a:r>
            <a:endParaRPr sz="1200" dirty="0">
              <a:solidFill>
                <a:srgbClr val="A0A0A0"/>
              </a:solidFill>
              <a:latin typeface="Noto Sans CJK KR"/>
            </a:endParaRPr>
          </a:p>
        </p:txBody>
      </p:sp>
      <p:sp>
        <p:nvSpPr>
          <p:cNvPr id="19" name="Rectangle 3">
            <a:extLst>
              <a:ext uri="{FF2B5EF4-FFF2-40B4-BE49-F238E27FC236}">
                <a16:creationId xmlns:a16="http://schemas.microsoft.com/office/drawing/2014/main" id="{CED08A07-6084-F753-8B28-1D62C8AA9D7C}"/>
              </a:ext>
            </a:extLst>
          </p:cNvPr>
          <p:cNvSpPr/>
          <p:nvPr/>
        </p:nvSpPr>
        <p:spPr>
          <a:xfrm>
            <a:off x="731520" y="1143000"/>
            <a:ext cx="10744200" cy="10972"/>
          </a:xfrm>
          <a:prstGeom prst="rect">
            <a:avLst/>
          </a:prstGeom>
          <a:solidFill>
            <a:srgbClr val="5F5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5">
            <a:extLst>
              <a:ext uri="{FF2B5EF4-FFF2-40B4-BE49-F238E27FC236}">
                <a16:creationId xmlns:a16="http://schemas.microsoft.com/office/drawing/2014/main" id="{0A08A6AD-487F-CDB3-5455-DA0CCBC370D2}"/>
              </a:ext>
            </a:extLst>
          </p:cNvPr>
          <p:cNvSpPr/>
          <p:nvPr/>
        </p:nvSpPr>
        <p:spPr>
          <a:xfrm>
            <a:off x="914400" y="1874519"/>
            <a:ext cx="9875520" cy="548640"/>
          </a:xfrm>
          <a:prstGeom prst="rect">
            <a:avLst/>
          </a:prstGeom>
          <a:solidFill>
            <a:srgbClr val="EEEEEE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109728" bIns="27432" rtlCol="0" anchor="ctr"/>
          <a:lstStyle/>
          <a:p>
            <a:pPr algn="ctr"/>
            <a:r>
              <a:rPr sz="2400">
                <a:solidFill>
                  <a:srgbClr val="0A0A0A"/>
                </a:solidFill>
                <a:latin typeface="Cambria Math"/>
              </a:rPr>
              <a:t>E[−log pθ(x₀)] ≤ L</a:t>
            </a:r>
          </a:p>
        </p:txBody>
      </p:sp>
      <p:sp>
        <p:nvSpPr>
          <p:cNvPr id="25" name="Rectangle 6">
            <a:extLst>
              <a:ext uri="{FF2B5EF4-FFF2-40B4-BE49-F238E27FC236}">
                <a16:creationId xmlns:a16="http://schemas.microsoft.com/office/drawing/2014/main" id="{428BE222-9E46-3B34-45C9-1F1634AB9EEC}"/>
              </a:ext>
            </a:extLst>
          </p:cNvPr>
          <p:cNvSpPr/>
          <p:nvPr/>
        </p:nvSpPr>
        <p:spPr>
          <a:xfrm>
            <a:off x="914400" y="2606040"/>
            <a:ext cx="9875520" cy="548640"/>
          </a:xfrm>
          <a:prstGeom prst="rect">
            <a:avLst/>
          </a:prstGeom>
          <a:solidFill>
            <a:srgbClr val="EEEEEE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109728" bIns="27432" rtlCol="0" anchor="ctr"/>
          <a:lstStyle/>
          <a:p>
            <a:pPr algn="ctr"/>
            <a:r>
              <a:rPr sz="2300">
                <a:solidFill>
                  <a:srgbClr val="0A0A0A"/>
                </a:solidFill>
                <a:latin typeface="Cambria Math"/>
              </a:rPr>
              <a:t>L = E_q [ −log  pθ(x₀:T) / q(x₁:T | x₀) ]</a:t>
            </a:r>
          </a:p>
        </p:txBody>
      </p:sp>
      <p:sp>
        <p:nvSpPr>
          <p:cNvPr id="29" name="Rectangle 8">
            <a:extLst>
              <a:ext uri="{FF2B5EF4-FFF2-40B4-BE49-F238E27FC236}">
                <a16:creationId xmlns:a16="http://schemas.microsoft.com/office/drawing/2014/main" id="{57C77199-F607-777E-0BE4-03F8ADB0837B}"/>
              </a:ext>
            </a:extLst>
          </p:cNvPr>
          <p:cNvSpPr/>
          <p:nvPr/>
        </p:nvSpPr>
        <p:spPr>
          <a:xfrm>
            <a:off x="914400" y="3785615"/>
            <a:ext cx="9875520" cy="548640"/>
          </a:xfrm>
          <a:prstGeom prst="rect">
            <a:avLst/>
          </a:prstGeom>
          <a:solidFill>
            <a:srgbClr val="EEEEEE"/>
          </a:solidFill>
          <a:ln>
            <a:solidFill>
              <a:srgbClr val="EEEE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27432" rIns="109728" bIns="27432" rtlCol="0" anchor="ctr"/>
          <a:lstStyle/>
          <a:p>
            <a:pPr algn="ctr"/>
            <a:r>
              <a:rPr sz="2400" dirty="0">
                <a:solidFill>
                  <a:srgbClr val="0A0A0A"/>
                </a:solidFill>
                <a:latin typeface="Cambria Math"/>
              </a:rPr>
              <a:t>L = L_T + Σ_{t&gt;1} L_{t−1} + L₀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77E524C-64AC-D9C7-58FA-9357EF96B54F}"/>
              </a:ext>
            </a:extLst>
          </p:cNvPr>
          <p:cNvSpPr txBox="1"/>
          <p:nvPr/>
        </p:nvSpPr>
        <p:spPr>
          <a:xfrm>
            <a:off x="868680" y="1353312"/>
            <a:ext cx="1037844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altLang="ko-KR" dirty="0">
                <a:solidFill>
                  <a:srgbClr val="F5F5F5"/>
                </a:solidFill>
                <a:latin typeface="Noto Sans CJK KR"/>
              </a:rPr>
              <a:t>DDPM</a:t>
            </a:r>
            <a:r>
              <a:rPr lang="ko-KR" altLang="en-US" dirty="0">
                <a:solidFill>
                  <a:srgbClr val="F5F5F5"/>
                </a:solidFill>
                <a:latin typeface="Noto Sans CJK KR"/>
              </a:rPr>
              <a:t>은 </a:t>
            </a:r>
            <a:r>
              <a:rPr lang="en-US" altLang="ko-KR" dirty="0">
                <a:solidFill>
                  <a:srgbClr val="F5F5F5"/>
                </a:solidFill>
                <a:latin typeface="Noto Sans CJK KR"/>
              </a:rPr>
              <a:t>negative log-likelihood</a:t>
            </a:r>
            <a:r>
              <a:rPr lang="ko-KR" altLang="en-US" dirty="0">
                <a:solidFill>
                  <a:srgbClr val="F5F5F5"/>
                </a:solidFill>
                <a:latin typeface="Noto Sans CJK KR"/>
              </a:rPr>
              <a:t>의 </a:t>
            </a:r>
            <a:r>
              <a:rPr lang="en-US" altLang="ko-KR" dirty="0">
                <a:solidFill>
                  <a:srgbClr val="F5F5F5"/>
                </a:solidFill>
                <a:latin typeface="Noto Sans CJK KR"/>
              </a:rPr>
              <a:t>variational bound</a:t>
            </a:r>
            <a:r>
              <a:rPr lang="ko-KR" altLang="en-US" dirty="0">
                <a:solidFill>
                  <a:srgbClr val="F5F5F5"/>
                </a:solidFill>
                <a:latin typeface="Noto Sans CJK KR"/>
              </a:rPr>
              <a:t>를 최소화하도록 학습한다</a:t>
            </a:r>
            <a:r>
              <a:rPr lang="en-US" altLang="ko-KR" dirty="0">
                <a:solidFill>
                  <a:srgbClr val="F5F5F5"/>
                </a:solidFill>
                <a:latin typeface="Noto Sans CJK KR"/>
              </a:rPr>
              <a:t>.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FC5E767-3CA3-AD83-A361-9F23A6821E00}"/>
              </a:ext>
            </a:extLst>
          </p:cNvPr>
          <p:cNvSpPr txBox="1"/>
          <p:nvPr/>
        </p:nvSpPr>
        <p:spPr>
          <a:xfrm>
            <a:off x="906780" y="3326134"/>
            <a:ext cx="1037844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  <a:latin typeface="Noto Sans CJK KR"/>
              </a:rPr>
              <a:t>이를 </a:t>
            </a:r>
            <a:r>
              <a:rPr lang="en-US" altLang="ko-KR" dirty="0">
                <a:solidFill>
                  <a:schemeClr val="bg1"/>
                </a:solidFill>
                <a:latin typeface="Noto Sans CJK KR"/>
              </a:rPr>
              <a:t>timestep</a:t>
            </a:r>
            <a:r>
              <a:rPr lang="ko-KR" altLang="en-US" dirty="0">
                <a:solidFill>
                  <a:schemeClr val="bg1"/>
                </a:solidFill>
                <a:latin typeface="Noto Sans CJK KR"/>
              </a:rPr>
              <a:t>별 항으로 분해하면 다음과 같다</a:t>
            </a:r>
            <a:r>
              <a:rPr lang="en-US" altLang="ko-KR" dirty="0">
                <a:solidFill>
                  <a:schemeClr val="bg1"/>
                </a:solidFill>
                <a:latin typeface="Noto Sans CJK KR"/>
              </a:rPr>
              <a:t>.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2C7A9A4-6A3F-96BC-33A3-FD5F280D2B6B}"/>
              </a:ext>
            </a:extLst>
          </p:cNvPr>
          <p:cNvSpPr txBox="1"/>
          <p:nvPr/>
        </p:nvSpPr>
        <p:spPr>
          <a:xfrm>
            <a:off x="906780" y="4583203"/>
            <a:ext cx="1014984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lang="en-US" altLang="ko-KR" dirty="0">
                <a:solidFill>
                  <a:srgbClr val="F5F5F5"/>
                </a:solidFill>
                <a:latin typeface="Noto Sans CJK KR"/>
              </a:rPr>
              <a:t>• L_T : q(</a:t>
            </a:r>
            <a:r>
              <a:rPr lang="en-US" altLang="ko-KR" dirty="0" err="1">
                <a:solidFill>
                  <a:srgbClr val="F5F5F5"/>
                </a:solidFill>
                <a:latin typeface="Noto Sans CJK KR"/>
              </a:rPr>
              <a:t>x_T</a:t>
            </a:r>
            <a:r>
              <a:rPr lang="en-US" altLang="ko-KR" dirty="0">
                <a:solidFill>
                  <a:srgbClr val="F5F5F5"/>
                </a:solidFill>
                <a:latin typeface="Noto Sans CJK KR"/>
              </a:rPr>
              <a:t> | x₀)</a:t>
            </a:r>
            <a:r>
              <a:rPr lang="ko-KR" altLang="en-US" dirty="0">
                <a:solidFill>
                  <a:srgbClr val="F5F5F5"/>
                </a:solidFill>
                <a:latin typeface="Noto Sans CJK KR"/>
              </a:rPr>
              <a:t>와 </a:t>
            </a:r>
            <a:r>
              <a:rPr lang="en-US" altLang="ko-KR" dirty="0">
                <a:solidFill>
                  <a:srgbClr val="F5F5F5"/>
                </a:solidFill>
                <a:latin typeface="Noto Sans CJK KR"/>
              </a:rPr>
              <a:t>prior p(</a:t>
            </a:r>
            <a:r>
              <a:rPr lang="en-US" altLang="ko-KR" dirty="0" err="1">
                <a:solidFill>
                  <a:srgbClr val="F5F5F5"/>
                </a:solidFill>
                <a:latin typeface="Noto Sans CJK KR"/>
              </a:rPr>
              <a:t>x_T</a:t>
            </a:r>
            <a:r>
              <a:rPr lang="en-US" altLang="ko-KR" dirty="0">
                <a:solidFill>
                  <a:srgbClr val="F5F5F5"/>
                </a:solidFill>
                <a:latin typeface="Noto Sans CJK KR"/>
              </a:rPr>
              <a:t>) </a:t>
            </a:r>
            <a:r>
              <a:rPr lang="ko-KR" altLang="en-US" dirty="0">
                <a:solidFill>
                  <a:srgbClr val="F5F5F5"/>
                </a:solidFill>
                <a:latin typeface="Noto Sans CJK KR"/>
              </a:rPr>
              <a:t>사이의 </a:t>
            </a:r>
            <a:r>
              <a:rPr lang="en-US" altLang="ko-KR" dirty="0">
                <a:solidFill>
                  <a:srgbClr val="F5F5F5"/>
                </a:solidFill>
                <a:latin typeface="Noto Sans CJK KR"/>
              </a:rPr>
              <a:t>KL divergence</a:t>
            </a:r>
            <a:br>
              <a:rPr lang="en-US" altLang="ko-KR" dirty="0"/>
            </a:br>
            <a:r>
              <a:rPr lang="en-US" altLang="ko-KR" dirty="0">
                <a:solidFill>
                  <a:srgbClr val="F5F5F5"/>
                </a:solidFill>
                <a:latin typeface="Noto Sans CJK KR"/>
              </a:rPr>
              <a:t>• L_{t−1} : q(x_{t−1}|</a:t>
            </a:r>
            <a:r>
              <a:rPr lang="en-US" altLang="ko-KR" dirty="0" err="1">
                <a:solidFill>
                  <a:srgbClr val="F5F5F5"/>
                </a:solidFill>
                <a:latin typeface="Noto Sans CJK KR"/>
              </a:rPr>
              <a:t>x_t,x</a:t>
            </a:r>
            <a:r>
              <a:rPr lang="en-US" altLang="ko-KR" dirty="0">
                <a:solidFill>
                  <a:srgbClr val="F5F5F5"/>
                </a:solidFill>
                <a:latin typeface="Noto Sans CJK KR"/>
              </a:rPr>
              <a:t>₀)</a:t>
            </a:r>
            <a:r>
              <a:rPr lang="ko-KR" altLang="en-US" dirty="0">
                <a:solidFill>
                  <a:srgbClr val="F5F5F5"/>
                </a:solidFill>
                <a:latin typeface="Noto Sans CJK KR"/>
              </a:rPr>
              <a:t>와 </a:t>
            </a:r>
            <a:r>
              <a:rPr lang="en-US" altLang="ko-KR" dirty="0">
                <a:solidFill>
                  <a:srgbClr val="F5F5F5"/>
                </a:solidFill>
                <a:latin typeface="Noto Sans CJK KR"/>
              </a:rPr>
              <a:t>p</a:t>
            </a:r>
            <a:r>
              <a:rPr lang="el-GR" altLang="ko-KR" dirty="0">
                <a:solidFill>
                  <a:srgbClr val="F5F5F5"/>
                </a:solidFill>
                <a:latin typeface="Noto Sans CJK KR"/>
              </a:rPr>
              <a:t>θ(</a:t>
            </a:r>
            <a:r>
              <a:rPr lang="en-US" altLang="ko-KR" dirty="0">
                <a:solidFill>
                  <a:srgbClr val="F5F5F5"/>
                </a:solidFill>
                <a:latin typeface="Noto Sans CJK KR"/>
              </a:rPr>
              <a:t>x_{t−1}|</a:t>
            </a:r>
            <a:r>
              <a:rPr lang="en-US" altLang="ko-KR" dirty="0" err="1">
                <a:solidFill>
                  <a:srgbClr val="F5F5F5"/>
                </a:solidFill>
                <a:latin typeface="Noto Sans CJK KR"/>
              </a:rPr>
              <a:t>x_t</a:t>
            </a:r>
            <a:r>
              <a:rPr lang="en-US" altLang="ko-KR" dirty="0">
                <a:solidFill>
                  <a:srgbClr val="F5F5F5"/>
                </a:solidFill>
                <a:latin typeface="Noto Sans CJK KR"/>
              </a:rPr>
              <a:t>) </a:t>
            </a:r>
            <a:r>
              <a:rPr lang="ko-KR" altLang="en-US" dirty="0">
                <a:solidFill>
                  <a:srgbClr val="F5F5F5"/>
                </a:solidFill>
                <a:latin typeface="Noto Sans CJK KR"/>
              </a:rPr>
              <a:t>사이의 </a:t>
            </a:r>
            <a:r>
              <a:rPr lang="en-US" altLang="ko-KR" dirty="0">
                <a:solidFill>
                  <a:srgbClr val="F5F5F5"/>
                </a:solidFill>
                <a:latin typeface="Noto Sans CJK KR"/>
              </a:rPr>
              <a:t>KL divergence</a:t>
            </a:r>
            <a:br>
              <a:rPr lang="en-US" altLang="ko-KR" dirty="0"/>
            </a:br>
            <a:r>
              <a:rPr lang="en-US" altLang="ko-KR" dirty="0">
                <a:solidFill>
                  <a:srgbClr val="F5F5F5"/>
                </a:solidFill>
                <a:latin typeface="Noto Sans CJK KR"/>
              </a:rPr>
              <a:t>• L₀ : x₀</a:t>
            </a:r>
            <a:r>
              <a:rPr lang="ko-KR" altLang="en-US" dirty="0">
                <a:solidFill>
                  <a:srgbClr val="F5F5F5"/>
                </a:solidFill>
                <a:latin typeface="Noto Sans CJK KR"/>
              </a:rPr>
              <a:t>의 </a:t>
            </a:r>
            <a:r>
              <a:rPr lang="en-US" altLang="ko-KR" dirty="0">
                <a:solidFill>
                  <a:srgbClr val="F5F5F5"/>
                </a:solidFill>
                <a:latin typeface="Noto Sans CJK KR"/>
              </a:rPr>
              <a:t>negative log-likelihood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1CB07FD-221E-8C69-7585-F90A75B86806}"/>
              </a:ext>
            </a:extLst>
          </p:cNvPr>
          <p:cNvSpPr txBox="1"/>
          <p:nvPr/>
        </p:nvSpPr>
        <p:spPr>
          <a:xfrm>
            <a:off x="914400" y="5572524"/>
            <a:ext cx="1037844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ko-KR" altLang="en-US" dirty="0">
                <a:solidFill>
                  <a:srgbClr val="F5F5F5"/>
                </a:solidFill>
                <a:latin typeface="Noto Sans CJK KR"/>
              </a:rPr>
              <a:t>따라서 </a:t>
            </a:r>
            <a:r>
              <a:rPr lang="en-US" altLang="ko-KR" dirty="0">
                <a:solidFill>
                  <a:srgbClr val="F5F5F5"/>
                </a:solidFill>
                <a:latin typeface="Noto Sans CJK KR"/>
              </a:rPr>
              <a:t>reverse process </a:t>
            </a:r>
            <a:r>
              <a:rPr lang="ko-KR" altLang="en-US" dirty="0">
                <a:solidFill>
                  <a:srgbClr val="F5F5F5"/>
                </a:solidFill>
                <a:latin typeface="Noto Sans CJK KR"/>
              </a:rPr>
              <a:t>학습은 각 </a:t>
            </a:r>
            <a:r>
              <a:rPr lang="en-US" altLang="ko-KR" dirty="0">
                <a:solidFill>
                  <a:srgbClr val="F5F5F5"/>
                </a:solidFill>
                <a:latin typeface="Noto Sans CJK KR"/>
              </a:rPr>
              <a:t>timestep</a:t>
            </a:r>
            <a:r>
              <a:rPr lang="ko-KR" altLang="en-US" dirty="0">
                <a:solidFill>
                  <a:srgbClr val="F5F5F5"/>
                </a:solidFill>
                <a:latin typeface="Noto Sans CJK KR"/>
              </a:rPr>
              <a:t>에서 </a:t>
            </a:r>
            <a:r>
              <a:rPr lang="en-US" altLang="ko-KR" dirty="0">
                <a:solidFill>
                  <a:srgbClr val="F5F5F5"/>
                </a:solidFill>
                <a:latin typeface="Noto Sans CJK KR"/>
              </a:rPr>
              <a:t>posterior</a:t>
            </a:r>
            <a:r>
              <a:rPr lang="ko-KR" altLang="en-US" dirty="0">
                <a:solidFill>
                  <a:srgbClr val="F5F5F5"/>
                </a:solidFill>
                <a:latin typeface="Noto Sans CJK KR"/>
              </a:rPr>
              <a:t>와 </a:t>
            </a:r>
            <a:r>
              <a:rPr lang="en-US" altLang="ko-KR" dirty="0">
                <a:solidFill>
                  <a:srgbClr val="F5F5F5"/>
                </a:solidFill>
                <a:latin typeface="Noto Sans CJK KR"/>
              </a:rPr>
              <a:t>model transition</a:t>
            </a:r>
            <a:r>
              <a:rPr lang="ko-KR" altLang="en-US" dirty="0">
                <a:solidFill>
                  <a:srgbClr val="F5F5F5"/>
                </a:solidFill>
                <a:latin typeface="Noto Sans CJK KR"/>
              </a:rPr>
              <a:t>을 맞추는 문제로 정리된다</a:t>
            </a:r>
            <a:r>
              <a:rPr lang="en-US" altLang="ko-KR" dirty="0">
                <a:solidFill>
                  <a:srgbClr val="F5F5F5"/>
                </a:solidFill>
                <a:latin typeface="Noto Sans CJK KR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460898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438912"/>
            <a:ext cx="106984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F5F5F5"/>
                </a:solidFill>
                <a:latin typeface="Noto Sans CJK KR"/>
              </a:defRPr>
            </a:pPr>
            <a:r>
              <a:t>ε-Prediction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48463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>
                <a:solidFill>
                  <a:srgbClr val="5F5F5F"/>
                </a:solidFill>
                <a:latin typeface="Noto Sans CJK KR"/>
              </a:defRPr>
            </a:pPr>
            <a:r>
              <a:t>08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0744200" cy="10972"/>
          </a:xfrm>
          <a:prstGeom prst="rect">
            <a:avLst/>
          </a:prstGeom>
          <a:solidFill>
            <a:srgbClr val="5F5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353312"/>
            <a:ext cx="10424160" cy="3847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900" b="0">
                <a:solidFill>
                  <a:srgbClr val="F5F5F5"/>
                </a:solidFill>
                <a:latin typeface="Noto Sans CJK KR"/>
              </a:defRPr>
            </a:pPr>
            <a:r>
              <a:rPr lang="en-US" altLang="ko-KR" dirty="0">
                <a:solidFill>
                  <a:srgbClr val="FFFFFF"/>
                </a:solidFill>
                <a:latin typeface="Malgun Gothic"/>
              </a:rPr>
              <a:t>DDPM</a:t>
            </a:r>
            <a:r>
              <a:rPr lang="ko-KR" altLang="en-US" dirty="0">
                <a:solidFill>
                  <a:srgbClr val="FFFFFF"/>
                </a:solidFill>
                <a:latin typeface="Malgun Gothic"/>
              </a:rPr>
              <a:t>은 </a:t>
            </a:r>
            <a:r>
              <a:rPr lang="en-US" altLang="ko-KR" dirty="0">
                <a:solidFill>
                  <a:srgbClr val="FFFFFF"/>
                </a:solidFill>
                <a:latin typeface="Malgun Gothic"/>
              </a:rPr>
              <a:t>noise ε</a:t>
            </a:r>
            <a:r>
              <a:rPr lang="ko-KR" altLang="en-US" dirty="0">
                <a:solidFill>
                  <a:srgbClr val="FFFFFF"/>
                </a:solidFill>
                <a:latin typeface="Malgun Gothic"/>
              </a:rPr>
              <a:t>를 예측하는 </a:t>
            </a:r>
            <a:r>
              <a:rPr lang="en-US" altLang="ko-KR" dirty="0">
                <a:solidFill>
                  <a:srgbClr val="FFFFFF"/>
                </a:solidFill>
                <a:latin typeface="Malgun Gothic"/>
              </a:rPr>
              <a:t>network </a:t>
            </a:r>
            <a:r>
              <a:rPr lang="en-US" altLang="ko-KR" dirty="0" err="1">
                <a:solidFill>
                  <a:srgbClr val="FFFFFF"/>
                </a:solidFill>
                <a:latin typeface="Malgun Gothic"/>
              </a:rPr>
              <a:t>εθ</a:t>
            </a:r>
            <a:r>
              <a:rPr lang="en-US" altLang="ko-KR" dirty="0">
                <a:solidFill>
                  <a:srgbClr val="FFFFFF"/>
                </a:solidFill>
                <a:latin typeface="Malgun Gothic"/>
              </a:rPr>
              <a:t>(</a:t>
            </a:r>
            <a:r>
              <a:rPr lang="en-US" altLang="ko-KR" dirty="0" err="1">
                <a:solidFill>
                  <a:srgbClr val="FFFFFF"/>
                </a:solidFill>
                <a:latin typeface="Malgun Gothic"/>
              </a:rPr>
              <a:t>xₜ,t</a:t>
            </a:r>
            <a:r>
              <a:rPr lang="en-US" altLang="ko-KR" dirty="0">
                <a:solidFill>
                  <a:srgbClr val="FFFFFF"/>
                </a:solidFill>
                <a:latin typeface="Malgun Gothic"/>
              </a:rPr>
              <a:t>)</a:t>
            </a:r>
            <a:r>
              <a:rPr lang="ko-KR" altLang="en-US" dirty="0">
                <a:solidFill>
                  <a:srgbClr val="FFFFFF"/>
                </a:solidFill>
                <a:latin typeface="Malgun Gothic"/>
              </a:rPr>
              <a:t>를 이용해 역방향 과정의 평균을 </a:t>
            </a:r>
            <a:r>
              <a:rPr lang="ko-KR" altLang="en-US" dirty="0" err="1">
                <a:solidFill>
                  <a:srgbClr val="FFFFFF"/>
                </a:solidFill>
                <a:latin typeface="Malgun Gothic"/>
              </a:rPr>
              <a:t>매개변수화한다</a:t>
            </a:r>
            <a:r>
              <a:rPr lang="en-US" altLang="ko-KR" dirty="0">
                <a:solidFill>
                  <a:srgbClr val="FFFFFF"/>
                </a:solidFill>
                <a:latin typeface="Malgun Gothic"/>
              </a:rPr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965960"/>
            <a:ext cx="10287000" cy="749808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24128" y="2020824"/>
            <a:ext cx="10067544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>
                <a:solidFill>
                  <a:srgbClr val="000000"/>
                </a:solidFill>
                <a:latin typeface="Cambria Math"/>
              </a:defRPr>
            </a:pPr>
            <a:r>
              <a:rPr dirty="0" err="1"/>
              <a:t>μθ</a:t>
            </a:r>
            <a:r>
              <a:rPr dirty="0"/>
              <a:t>(</a:t>
            </a:r>
            <a:r>
              <a:rPr dirty="0" err="1"/>
              <a:t>xₜ,t</a:t>
            </a:r>
            <a:r>
              <a:rPr dirty="0"/>
              <a:t>) = 1/√αₜ · ( xₜ − βₜ/√(1−ᾱₜ) · </a:t>
            </a:r>
            <a:r>
              <a:rPr dirty="0" err="1"/>
              <a:t>εθ</a:t>
            </a:r>
            <a:r>
              <a:rPr dirty="0"/>
              <a:t>(</a:t>
            </a:r>
            <a:r>
              <a:rPr dirty="0" err="1"/>
              <a:t>xₜ,t</a:t>
            </a:r>
            <a:r>
              <a:rPr dirty="0"/>
              <a:t>) 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044952"/>
            <a:ext cx="10241280" cy="3539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700" b="0">
                <a:solidFill>
                  <a:srgbClr val="B4B4B4"/>
                </a:solidFill>
                <a:latin typeface="Noto Sans CJK KR"/>
              </a:defRPr>
            </a:pPr>
            <a:r>
              <a:rPr lang="ko-KR" altLang="en-US" dirty="0">
                <a:solidFill>
                  <a:srgbClr val="FFFFFF"/>
                </a:solidFill>
                <a:latin typeface="Malgun Gothic"/>
              </a:rPr>
              <a:t>이 매개변수화를 사용하면 </a:t>
            </a:r>
            <a:r>
              <a:rPr lang="en-US" altLang="ko-KR" dirty="0">
                <a:solidFill>
                  <a:srgbClr val="FFFFFF"/>
                </a:solidFill>
                <a:latin typeface="Malgun Gothic"/>
              </a:rPr>
              <a:t>loss</a:t>
            </a:r>
            <a:r>
              <a:rPr lang="ko-KR" altLang="en-US" dirty="0">
                <a:solidFill>
                  <a:srgbClr val="FFFFFF"/>
                </a:solidFill>
                <a:latin typeface="Malgun Gothic"/>
              </a:rPr>
              <a:t> </a:t>
            </a:r>
            <a:r>
              <a:rPr lang="en-US" altLang="ko-KR" dirty="0">
                <a:solidFill>
                  <a:srgbClr val="FFFFFF"/>
                </a:solidFill>
                <a:latin typeface="Malgun Gothic"/>
              </a:rPr>
              <a:t>function</a:t>
            </a:r>
            <a:r>
              <a:rPr lang="ko-KR" altLang="en-US" dirty="0">
                <a:solidFill>
                  <a:srgbClr val="FFFFFF"/>
                </a:solidFill>
                <a:latin typeface="Malgun Gothic"/>
              </a:rPr>
              <a:t>은 다음과 같이 단순화 할 수 있다</a:t>
            </a:r>
            <a:r>
              <a:rPr lang="en-US" altLang="ko-KR" dirty="0">
                <a:solidFill>
                  <a:srgbClr val="FFFFFF"/>
                </a:solidFill>
                <a:latin typeface="Malgun Gothic"/>
              </a:rPr>
              <a:t>!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3584448"/>
            <a:ext cx="10287000" cy="896112"/>
          </a:xfrm>
          <a:prstGeom prst="rect">
            <a:avLst/>
          </a:prstGeom>
          <a:solidFill>
            <a:srgbClr val="F5F5F5"/>
          </a:solidFill>
          <a:ln>
            <a:solidFill>
              <a:srgbClr val="F5F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24128" y="3639312"/>
            <a:ext cx="10067544" cy="7863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>
                <a:solidFill>
                  <a:srgbClr val="000000"/>
                </a:solidFill>
                <a:latin typeface="Cambria Math"/>
              </a:defRPr>
            </a:pPr>
            <a:r>
              <a:t>Lsimple(θ) = Eₜ,ₓ₀,ε [ ‖ ε − εθ( √ᾱₜ x₀ + √(1−ᾱₜ) ε , t ) ‖² 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4736592"/>
            <a:ext cx="10149840" cy="907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700">
                <a:solidFill>
                  <a:srgbClr val="F5F5F5"/>
                </a:solidFill>
                <a:latin typeface="Noto Sans CJK KR"/>
              </a:defRPr>
            </a:pPr>
            <a:r>
              <a:rPr lang="en-US" altLang="ko-KR" dirty="0">
                <a:solidFill>
                  <a:srgbClr val="FFFFFF"/>
                </a:solidFill>
                <a:latin typeface="Malgun Gothic"/>
              </a:rPr>
              <a:t>• </a:t>
            </a:r>
            <a:r>
              <a:rPr lang="ko-KR" altLang="en-US" dirty="0">
                <a:solidFill>
                  <a:srgbClr val="FFFFFF"/>
                </a:solidFill>
                <a:latin typeface="Malgun Gothic"/>
              </a:rPr>
              <a:t>데이터 분포에서 </a:t>
            </a:r>
            <a:r>
              <a:rPr lang="en-US" altLang="ko-KR" dirty="0">
                <a:solidFill>
                  <a:srgbClr val="FFFFFF"/>
                </a:solidFill>
                <a:latin typeface="Malgun Gothic"/>
              </a:rPr>
              <a:t>x₀</a:t>
            </a:r>
            <a:r>
              <a:rPr lang="ko-KR" altLang="en-US" dirty="0">
                <a:solidFill>
                  <a:srgbClr val="FFFFFF"/>
                </a:solidFill>
                <a:latin typeface="Malgun Gothic"/>
              </a:rPr>
              <a:t>를 </a:t>
            </a:r>
            <a:r>
              <a:rPr lang="ko-KR" altLang="en-US" dirty="0" err="1">
                <a:solidFill>
                  <a:srgbClr val="FFFFFF"/>
                </a:solidFill>
                <a:latin typeface="Malgun Gothic"/>
              </a:rPr>
              <a:t>샘플링한다</a:t>
            </a:r>
            <a:r>
              <a:rPr lang="en-US" altLang="ko-KR" dirty="0">
                <a:solidFill>
                  <a:srgbClr val="FFFFFF"/>
                </a:solidFill>
                <a:latin typeface="Malgun Gothic"/>
              </a:rPr>
              <a:t>.</a:t>
            </a:r>
          </a:p>
          <a:p>
            <a:r>
              <a:rPr lang="en-US" altLang="ko-KR" dirty="0">
                <a:solidFill>
                  <a:srgbClr val="FFFFFF"/>
                </a:solidFill>
                <a:latin typeface="Malgun Gothic"/>
              </a:rPr>
              <a:t>• </a:t>
            </a:r>
            <a:r>
              <a:rPr lang="ko-KR" altLang="en-US" dirty="0">
                <a:solidFill>
                  <a:srgbClr val="FFFFFF"/>
                </a:solidFill>
                <a:latin typeface="Malgun Gothic"/>
              </a:rPr>
              <a:t>시간 단계 </a:t>
            </a:r>
            <a:r>
              <a:rPr lang="en-US" altLang="ko-KR" dirty="0">
                <a:solidFill>
                  <a:srgbClr val="FFFFFF"/>
                </a:solidFill>
                <a:latin typeface="Malgun Gothic"/>
              </a:rPr>
              <a:t>t</a:t>
            </a:r>
            <a:r>
              <a:rPr lang="ko-KR" altLang="en-US" dirty="0">
                <a:solidFill>
                  <a:srgbClr val="FFFFFF"/>
                </a:solidFill>
                <a:latin typeface="Malgun Gothic"/>
              </a:rPr>
              <a:t>와 </a:t>
            </a:r>
            <a:r>
              <a:rPr lang="en-US" altLang="ko-KR" dirty="0">
                <a:solidFill>
                  <a:srgbClr val="FFFFFF"/>
                </a:solidFill>
                <a:latin typeface="Malgun Gothic"/>
              </a:rPr>
              <a:t>Gaussian noise ε</a:t>
            </a:r>
            <a:r>
              <a:rPr lang="ko-KR" altLang="en-US" dirty="0">
                <a:solidFill>
                  <a:srgbClr val="FFFFFF"/>
                </a:solidFill>
                <a:latin typeface="Malgun Gothic"/>
              </a:rPr>
              <a:t>를 </a:t>
            </a:r>
            <a:r>
              <a:rPr lang="ko-KR" altLang="en-US" dirty="0" err="1">
                <a:solidFill>
                  <a:srgbClr val="FFFFFF"/>
                </a:solidFill>
                <a:latin typeface="Malgun Gothic"/>
              </a:rPr>
              <a:t>샘플링한다</a:t>
            </a:r>
            <a:r>
              <a:rPr lang="en-US" altLang="ko-KR" dirty="0">
                <a:solidFill>
                  <a:srgbClr val="FFFFFF"/>
                </a:solidFill>
                <a:latin typeface="Malgun Gothic"/>
              </a:rPr>
              <a:t>.</a:t>
            </a:r>
          </a:p>
          <a:p>
            <a:r>
              <a:rPr lang="en-US" altLang="ko-KR" dirty="0">
                <a:solidFill>
                  <a:srgbClr val="FFFFFF"/>
                </a:solidFill>
                <a:latin typeface="Malgun Gothic"/>
              </a:rPr>
              <a:t>• xₜ</a:t>
            </a:r>
            <a:r>
              <a:rPr lang="ko-KR" altLang="en-US" dirty="0">
                <a:solidFill>
                  <a:srgbClr val="FFFFFF"/>
                </a:solidFill>
                <a:latin typeface="Malgun Gothic"/>
              </a:rPr>
              <a:t>를 구성하고</a:t>
            </a:r>
            <a:r>
              <a:rPr lang="en-US" altLang="ko-KR" dirty="0">
                <a:solidFill>
                  <a:srgbClr val="FFFFFF"/>
                </a:solidFill>
                <a:latin typeface="Malgun Gothic"/>
              </a:rPr>
              <a:t>, </a:t>
            </a:r>
            <a:r>
              <a:rPr lang="en-US" altLang="ko-KR" dirty="0" err="1">
                <a:solidFill>
                  <a:srgbClr val="FFFFFF"/>
                </a:solidFill>
                <a:latin typeface="Malgun Gothic"/>
              </a:rPr>
              <a:t>εθ</a:t>
            </a:r>
            <a:r>
              <a:rPr lang="ko-KR" altLang="en-US" dirty="0">
                <a:solidFill>
                  <a:srgbClr val="FFFFFF"/>
                </a:solidFill>
                <a:latin typeface="Malgun Gothic"/>
              </a:rPr>
              <a:t>가 </a:t>
            </a:r>
            <a:r>
              <a:rPr lang="en-US" altLang="ko-KR" dirty="0">
                <a:solidFill>
                  <a:srgbClr val="FFFFFF"/>
                </a:solidFill>
                <a:latin typeface="Malgun Gothic"/>
              </a:rPr>
              <a:t>ε</a:t>
            </a:r>
            <a:r>
              <a:rPr lang="ko-KR" altLang="en-US" dirty="0">
                <a:solidFill>
                  <a:srgbClr val="FFFFFF"/>
                </a:solidFill>
                <a:latin typeface="Malgun Gothic"/>
              </a:rPr>
              <a:t>를 예측하도록 </a:t>
            </a:r>
            <a:r>
              <a:rPr lang="en-US" altLang="ko-KR" dirty="0">
                <a:solidFill>
                  <a:srgbClr val="FFFFFF"/>
                </a:solidFill>
                <a:latin typeface="Malgun Gothic"/>
              </a:rPr>
              <a:t>MSE</a:t>
            </a:r>
            <a:r>
              <a:rPr lang="ko-KR" altLang="en-US" dirty="0">
                <a:solidFill>
                  <a:srgbClr val="FFFFFF"/>
                </a:solidFill>
                <a:latin typeface="Malgun Gothic"/>
              </a:rPr>
              <a:t>로 학습한다</a:t>
            </a:r>
            <a:r>
              <a:rPr lang="en-US" altLang="ko-KR" dirty="0">
                <a:solidFill>
                  <a:srgbClr val="FFFFFF"/>
                </a:solidFill>
                <a:latin typeface="Malgun Gothic"/>
              </a:rPr>
              <a:t>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BF1F7A9-6CF3-2143-2E5F-DAFE2D205208}"/>
              </a:ext>
            </a:extLst>
          </p:cNvPr>
          <p:cNvSpPr txBox="1"/>
          <p:nvPr/>
        </p:nvSpPr>
        <p:spPr>
          <a:xfrm>
            <a:off x="731520" y="6510528"/>
            <a:ext cx="621792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00" b="0">
                <a:solidFill>
                  <a:srgbClr val="5F5F5F"/>
                </a:solidFill>
                <a:latin typeface="Noto Sans CJK KR"/>
              </a:defRPr>
            </a:pPr>
            <a:r>
              <a:rPr lang="en-US" dirty="0"/>
              <a:t>AID2026_2_Study / </a:t>
            </a:r>
            <a:r>
              <a:rPr lang="en-US" dirty="0" err="1"/>
              <a:t>AIResearchers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3F00A03C-7E34-3187-0C76-C6FDD0386B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990" y="4306440"/>
            <a:ext cx="9096020" cy="1981372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0F060215-DCE6-D224-05A6-D4A1FFFB05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0255" y="521284"/>
            <a:ext cx="8718036" cy="3310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53465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>
            <a:extLst>
              <a:ext uri="{FF2B5EF4-FFF2-40B4-BE49-F238E27FC236}">
                <a16:creationId xmlns:a16="http://schemas.microsoft.com/office/drawing/2014/main" id="{7E0FD5E6-2DAB-33F0-6446-01AE91FD03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414" y="896019"/>
            <a:ext cx="8763171" cy="4503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61463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>
            <a:extLst>
              <a:ext uri="{FF2B5EF4-FFF2-40B4-BE49-F238E27FC236}">
                <a16:creationId xmlns:a16="http://schemas.microsoft.com/office/drawing/2014/main" id="{2A516541-3FDF-C2B9-354F-490E5A4348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7037" y="563323"/>
            <a:ext cx="7157925" cy="469992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8D11327C-CC93-D3DD-8D94-ACB76F5BB8B9}"/>
              </a:ext>
            </a:extLst>
          </p:cNvPr>
          <p:cNvSpPr txBox="1"/>
          <p:nvPr/>
        </p:nvSpPr>
        <p:spPr>
          <a:xfrm>
            <a:off x="4855028" y="348342"/>
            <a:ext cx="22424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적분하기 쉽지 않음</a:t>
            </a:r>
            <a:r>
              <a:rPr lang="en-US" altLang="ko-KR" dirty="0"/>
              <a:t>;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00FEDBB-9A74-1C5C-55AA-A497F8B686E8}"/>
              </a:ext>
            </a:extLst>
          </p:cNvPr>
          <p:cNvSpPr txBox="1"/>
          <p:nvPr/>
        </p:nvSpPr>
        <p:spPr>
          <a:xfrm>
            <a:off x="7647214" y="1556266"/>
            <a:ext cx="2400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우리가 아는 값 도입</a:t>
            </a:r>
            <a:r>
              <a:rPr lang="en-US" altLang="ko-KR" dirty="0"/>
              <a:t>!</a:t>
            </a:r>
            <a:endParaRPr lang="ko-KR" altLang="en-US" dirty="0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BB89159C-9DF2-8183-2BFF-C0A397CF7F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5295" y="2254465"/>
            <a:ext cx="2012619" cy="576002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F897F1DC-4BC5-5E3B-1E10-82AB5EE9B9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09738" y="3671889"/>
            <a:ext cx="1952639" cy="485779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30E17495-9377-A9B4-8512-143563885B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7768" y="5287055"/>
            <a:ext cx="2286017" cy="600079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6BA75A0C-D1C5-A9D2-9DB5-898512C2ACE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03785" y="5287055"/>
            <a:ext cx="2857521" cy="609604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3E1411B0-609B-ED20-AEC2-97C149D1151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6291" y="5987144"/>
            <a:ext cx="2657494" cy="647705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B9A32A86-2130-251B-3558-B1344320F7B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847297" y="5977619"/>
            <a:ext cx="3610001" cy="657230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99B9D1C9-EA59-38B7-D170-7CA8C706DBE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00878" y="5478224"/>
            <a:ext cx="5414479" cy="785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15763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3C7B55A0-C6A0-A195-6B8F-A8BAC45311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9126" y="194579"/>
            <a:ext cx="3133748" cy="742955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901A756E-DD04-D8A3-3146-538917AA45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3281" y="1084487"/>
            <a:ext cx="5105437" cy="552454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A538A43D-3693-2123-F84D-D96F12DEC2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9018" y="1696791"/>
            <a:ext cx="8223532" cy="4076722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4E1AE077-9AAC-1C5C-D60E-17D7485EE2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70958" y="5653278"/>
            <a:ext cx="4528458" cy="1139922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2C5F9A2B-C306-E673-56D3-70829317EFA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3064" y="5324356"/>
            <a:ext cx="3569850" cy="475477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B655B887-BED5-EC85-8DED-5FE4BA391BC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32980" y="5826153"/>
            <a:ext cx="2762270" cy="914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9880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AFDF1649-A552-13E6-E0C3-1F964992BB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1272351"/>
            <a:ext cx="9144000" cy="906069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FA2B1AA-BF49-DB30-56C3-9A3A225B59BD}"/>
              </a:ext>
            </a:extLst>
          </p:cNvPr>
          <p:cNvSpPr txBox="1"/>
          <p:nvPr/>
        </p:nvSpPr>
        <p:spPr>
          <a:xfrm>
            <a:off x="1170214" y="3069770"/>
            <a:ext cx="981891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L_T : Forward Process</a:t>
            </a:r>
            <a:r>
              <a:rPr lang="ko-KR" altLang="en-US" dirty="0"/>
              <a:t>에서 원본 이미지를 얼마나 </a:t>
            </a:r>
            <a:r>
              <a:rPr lang="ko-KR" altLang="en-US" dirty="0" err="1"/>
              <a:t>가우시안</a:t>
            </a:r>
            <a:r>
              <a:rPr lang="ko-KR" altLang="en-US" dirty="0"/>
              <a:t> 노이즈와 비슷하게 잘 바꾸냐</a:t>
            </a:r>
            <a:r>
              <a:rPr lang="en-US" altLang="ko-KR" dirty="0"/>
              <a:t>?</a:t>
            </a:r>
          </a:p>
          <a:p>
            <a:r>
              <a:rPr lang="en-US" altLang="ko-KR" dirty="0"/>
              <a:t>-&gt; </a:t>
            </a:r>
            <a:r>
              <a:rPr lang="ko-KR" altLang="en-US" dirty="0"/>
              <a:t>베타 값이 상수이므로</a:t>
            </a:r>
            <a:r>
              <a:rPr lang="en-US" altLang="ko-KR" dirty="0"/>
              <a:t>, </a:t>
            </a:r>
            <a:r>
              <a:rPr lang="ko-KR" altLang="en-US" dirty="0"/>
              <a:t>최적화와는 무관한 </a:t>
            </a:r>
            <a:r>
              <a:rPr lang="ko-KR" altLang="en-US" dirty="0" err="1"/>
              <a:t>고정값</a:t>
            </a:r>
            <a:endParaRPr lang="en-US" altLang="ko-KR" dirty="0"/>
          </a:p>
          <a:p>
            <a:pPr marL="285750" indent="-285750">
              <a:buFont typeface="Wingdings" panose="05000000000000000000" pitchFamily="2" charset="2"/>
              <a:buChar char="è"/>
            </a:pPr>
            <a:endParaRPr lang="en-US" altLang="ko-KR" dirty="0"/>
          </a:p>
          <a:p>
            <a:r>
              <a:rPr lang="en-US" altLang="ko-KR" dirty="0"/>
              <a:t>L_t-1 : Reverse Process</a:t>
            </a:r>
            <a:r>
              <a:rPr lang="ko-KR" altLang="en-US" dirty="0"/>
              <a:t>의 각 스텝에서 이전 스텝의 </a:t>
            </a:r>
            <a:r>
              <a:rPr lang="en-US" altLang="ko-KR" dirty="0"/>
              <a:t>(</a:t>
            </a:r>
            <a:r>
              <a:rPr lang="ko-KR" altLang="en-US" dirty="0"/>
              <a:t>노이즈를 살짝 덜어낸</a:t>
            </a:r>
            <a:r>
              <a:rPr lang="en-US" altLang="ko-KR" dirty="0"/>
              <a:t>) </a:t>
            </a:r>
            <a:r>
              <a:rPr lang="ko-KR" altLang="en-US" dirty="0"/>
              <a:t>이미지를 얼마나 잘 복원하는지를 측정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L_0 : x1</a:t>
            </a:r>
            <a:r>
              <a:rPr lang="ko-KR" altLang="en-US" dirty="0"/>
              <a:t>에서 </a:t>
            </a:r>
            <a:r>
              <a:rPr lang="en-US" altLang="ko-KR" dirty="0"/>
              <a:t>x0</a:t>
            </a:r>
            <a:r>
              <a:rPr lang="ko-KR" altLang="en-US" dirty="0"/>
              <a:t>을 복원하는 과정</a:t>
            </a:r>
            <a:endParaRPr lang="en-US" altLang="ko-KR" dirty="0"/>
          </a:p>
          <a:p>
            <a:r>
              <a:rPr lang="en-US" altLang="ko-KR" dirty="0"/>
              <a:t>-&gt; </a:t>
            </a:r>
            <a:r>
              <a:rPr lang="ko-KR" altLang="ko-KR" dirty="0"/>
              <a:t>실험적으로도 큰 영향을 주지 않</a:t>
            </a:r>
            <a:r>
              <a:rPr lang="ko-KR" altLang="en-US" dirty="0"/>
              <a:t>음</a:t>
            </a:r>
          </a:p>
        </p:txBody>
      </p:sp>
    </p:spTree>
    <p:extLst>
      <p:ext uri="{BB962C8B-B14F-4D97-AF65-F5344CB8AC3E}">
        <p14:creationId xmlns:p14="http://schemas.microsoft.com/office/powerpoint/2010/main" val="34990479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2EB3061-BFCB-97B3-BF92-9713D0EFFA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303" y="509302"/>
            <a:ext cx="2977317" cy="405003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7C992464-FD1C-9361-3D93-A09B6F4EBC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0418" y="509302"/>
            <a:ext cx="2736503" cy="372164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1669327C-19DB-5D6B-A994-05B029973F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33589" y="2577266"/>
            <a:ext cx="2658792" cy="85173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548778FB-E17D-42C9-5B82-91AF4FD494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8649" y="3929908"/>
            <a:ext cx="6199632" cy="487065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05B382F5-F8F9-54CB-6959-173820C12FA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6710" y="1209134"/>
            <a:ext cx="4943511" cy="1009657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1B7AC40C-8455-DEB3-50DB-CC117EBBB8D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944079" y="263392"/>
            <a:ext cx="4715482" cy="5108439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2002FE4D-9735-3F4C-A80E-F57AFA38B71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50809" y="5605531"/>
            <a:ext cx="3502021" cy="989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99130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DF40175-581C-98EA-4126-801C42445E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6866" y="425020"/>
            <a:ext cx="6238921" cy="1162058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0D53EC99-99F2-39B6-494A-4F8CE7AD8B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3753" y="1795645"/>
            <a:ext cx="6303507" cy="4489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72726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AB42A985-126E-AFAE-A795-D8B58F735F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2872" y="3023095"/>
            <a:ext cx="7226256" cy="811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646354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438912"/>
            <a:ext cx="106984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F5F5F5"/>
                </a:solidFill>
                <a:latin typeface="Noto Sans CJK KR"/>
              </a:defRPr>
            </a:pPr>
            <a:r>
              <a:rPr dirty="0"/>
              <a:t>Training &amp; Sampling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48463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>
                <a:solidFill>
                  <a:srgbClr val="5F5F5F"/>
                </a:solidFill>
                <a:latin typeface="Noto Sans CJK KR"/>
              </a:defRPr>
            </a:pPr>
            <a:r>
              <a:t>09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0744200" cy="10972"/>
          </a:xfrm>
          <a:prstGeom prst="rect">
            <a:avLst/>
          </a:prstGeom>
          <a:solidFill>
            <a:srgbClr val="5F5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s7_img2_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48709"/>
            <a:ext cx="10744200" cy="27261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452628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B4B4B4"/>
                </a:solidFill>
                <a:latin typeface="Noto Sans CJK KR"/>
              </a:defRPr>
            </a:pPr>
            <a:r>
              <a:t>Training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901184"/>
            <a:ext cx="4892040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800" b="0">
                <a:solidFill>
                  <a:srgbClr val="F5F5F5"/>
                </a:solidFill>
                <a:latin typeface="Noto Sans CJK KR"/>
              </a:defRPr>
            </a:pPr>
            <a:r>
              <a:rPr lang="en-US" altLang="ko-KR" dirty="0">
                <a:solidFill>
                  <a:srgbClr val="FFFFFF"/>
                </a:solidFill>
                <a:latin typeface="Malgun Gothic"/>
              </a:rPr>
              <a:t>t</a:t>
            </a:r>
            <a:r>
              <a:rPr lang="ko-KR" altLang="en-US" dirty="0">
                <a:solidFill>
                  <a:srgbClr val="FFFFFF"/>
                </a:solidFill>
                <a:latin typeface="Malgun Gothic"/>
              </a:rPr>
              <a:t>를 무작위로 선택하고 </a:t>
            </a:r>
            <a:r>
              <a:rPr lang="en-US" altLang="ko-KR" dirty="0">
                <a:solidFill>
                  <a:srgbClr val="FFFFFF"/>
                </a:solidFill>
                <a:latin typeface="Malgun Gothic"/>
              </a:rPr>
              <a:t>xₜ</a:t>
            </a:r>
            <a:r>
              <a:rPr lang="ko-KR" altLang="en-US" dirty="0">
                <a:solidFill>
                  <a:srgbClr val="FFFFFF"/>
                </a:solidFill>
                <a:latin typeface="Malgun Gothic"/>
              </a:rPr>
              <a:t>를 합성한 뒤</a:t>
            </a:r>
            <a:r>
              <a:rPr lang="en-US" altLang="ko-KR" dirty="0">
                <a:solidFill>
                  <a:srgbClr val="FFFFFF"/>
                </a:solidFill>
                <a:latin typeface="Malgun Gothic"/>
              </a:rPr>
              <a:t>, noise-prediction loss</a:t>
            </a:r>
            <a:r>
              <a:rPr lang="ko-KR" altLang="en-US" dirty="0">
                <a:solidFill>
                  <a:srgbClr val="FFFFFF"/>
                </a:solidFill>
                <a:latin typeface="Malgun Gothic"/>
              </a:rPr>
              <a:t>로 </a:t>
            </a:r>
            <a:r>
              <a:rPr lang="en-US" altLang="ko-KR" dirty="0">
                <a:solidFill>
                  <a:srgbClr val="FFFFFF"/>
                </a:solidFill>
                <a:latin typeface="Malgun Gothic"/>
              </a:rPr>
              <a:t>θ</a:t>
            </a:r>
            <a:r>
              <a:rPr lang="ko-KR" altLang="en-US" dirty="0">
                <a:solidFill>
                  <a:srgbClr val="FFFFFF"/>
                </a:solidFill>
                <a:latin typeface="Malgun Gothic"/>
              </a:rPr>
              <a:t>를 업데이트한다</a:t>
            </a:r>
            <a:r>
              <a:rPr lang="en-US" altLang="ko-KR" dirty="0">
                <a:solidFill>
                  <a:srgbClr val="FFFFFF"/>
                </a:solidFill>
                <a:latin typeface="Malgun Gothic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4526280"/>
            <a:ext cx="10972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B4B4B4"/>
                </a:solidFill>
                <a:latin typeface="Noto Sans CJK KR"/>
              </a:defRPr>
            </a:pPr>
            <a:r>
              <a:t>Sampling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901184"/>
            <a:ext cx="4617720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800" b="0">
                <a:solidFill>
                  <a:srgbClr val="F5F5F5"/>
                </a:solidFill>
                <a:latin typeface="Noto Sans CJK KR"/>
              </a:defRPr>
            </a:pPr>
            <a:r>
              <a:rPr dirty="0" err="1"/>
              <a:t>xT</a:t>
            </a:r>
            <a:r>
              <a:rPr dirty="0"/>
              <a:t> ~ N(0,I)</a:t>
            </a:r>
            <a:r>
              <a:rPr lang="ko-KR" altLang="en-US" dirty="0">
                <a:solidFill>
                  <a:srgbClr val="FFFFFF"/>
                </a:solidFill>
                <a:latin typeface="Malgun Gothic"/>
              </a:rPr>
              <a:t>에서 시작하여 </a:t>
            </a:r>
            <a:r>
              <a:rPr lang="en-US" altLang="ko-KR" dirty="0">
                <a:solidFill>
                  <a:srgbClr val="FFFFFF"/>
                </a:solidFill>
                <a:latin typeface="Malgun Gothic"/>
              </a:rPr>
              <a:t>xₜ₋₁</a:t>
            </a:r>
            <a:r>
              <a:rPr lang="ko-KR" altLang="en-US" dirty="0">
                <a:solidFill>
                  <a:srgbClr val="FFFFFF"/>
                </a:solidFill>
                <a:latin typeface="Malgun Gothic"/>
              </a:rPr>
              <a:t>을 반복적으로 샘플링하고 최종적으로 </a:t>
            </a:r>
            <a:r>
              <a:rPr lang="en-US" altLang="ko-KR" dirty="0">
                <a:solidFill>
                  <a:srgbClr val="FFFFFF"/>
                </a:solidFill>
                <a:latin typeface="Malgun Gothic"/>
              </a:rPr>
              <a:t>x₀</a:t>
            </a:r>
            <a:r>
              <a:rPr lang="ko-KR" altLang="en-US" dirty="0">
                <a:solidFill>
                  <a:srgbClr val="FFFFFF"/>
                </a:solidFill>
                <a:latin typeface="Malgun Gothic"/>
              </a:rPr>
              <a:t>를 얻는다</a:t>
            </a:r>
            <a:r>
              <a:rPr lang="en-US" altLang="ko-KR" dirty="0">
                <a:solidFill>
                  <a:srgbClr val="FFFFFF"/>
                </a:solidFill>
                <a:latin typeface="Malgun Gothic"/>
              </a:rPr>
              <a:t>.</a:t>
            </a:r>
            <a:endParaRPr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97993BF-086B-4046-DA06-4D1FC083CA62}"/>
              </a:ext>
            </a:extLst>
          </p:cNvPr>
          <p:cNvSpPr txBox="1"/>
          <p:nvPr/>
        </p:nvSpPr>
        <p:spPr>
          <a:xfrm>
            <a:off x="731520" y="6510528"/>
            <a:ext cx="621792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00" b="0">
                <a:solidFill>
                  <a:srgbClr val="5F5F5F"/>
                </a:solidFill>
                <a:latin typeface="Noto Sans CJK KR"/>
              </a:defRPr>
            </a:pPr>
            <a:r>
              <a:rPr lang="en-US" dirty="0"/>
              <a:t>AID2026_2_Study / </a:t>
            </a:r>
            <a:r>
              <a:rPr lang="en-US" dirty="0" err="1"/>
              <a:t>AIResearchers</a:t>
            </a:r>
            <a:endParaRPr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438912"/>
            <a:ext cx="106984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F5F5F5"/>
                </a:solidFill>
                <a:latin typeface="Noto Sans CJK KR"/>
              </a:defRPr>
            </a:pPr>
            <a:r>
              <a:t>Model Architecture &amp;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48463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>
                <a:solidFill>
                  <a:srgbClr val="5F5F5F"/>
                </a:solidFill>
                <a:latin typeface="Noto Sans CJK KR"/>
              </a:defRPr>
            </a:pPr>
            <a:r>
              <a:t>10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0744200" cy="10972"/>
          </a:xfrm>
          <a:prstGeom prst="rect">
            <a:avLst/>
          </a:prstGeom>
          <a:solidFill>
            <a:srgbClr val="5F5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417320"/>
            <a:ext cx="10424160" cy="26161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F5F5F5"/>
                </a:solidFill>
                <a:latin typeface="Noto Sans CJK KR"/>
              </a:defRPr>
            </a:pPr>
            <a:r>
              <a:rPr dirty="0"/>
              <a:t>• Backbone: </a:t>
            </a:r>
            <a:r>
              <a:rPr lang="en-US" altLang="ko-KR" dirty="0">
                <a:solidFill>
                  <a:srgbClr val="FFFFFF"/>
                </a:solidFill>
                <a:latin typeface="Malgun Gothic"/>
              </a:rPr>
              <a:t>Wide </a:t>
            </a:r>
            <a:r>
              <a:rPr lang="en-US" altLang="ko-KR" dirty="0" err="1">
                <a:solidFill>
                  <a:srgbClr val="FFFFFF"/>
                </a:solidFill>
                <a:latin typeface="Malgun Gothic"/>
              </a:rPr>
              <a:t>ResNet</a:t>
            </a:r>
            <a:r>
              <a:rPr lang="en-US" altLang="ko-KR" dirty="0">
                <a:solidFill>
                  <a:srgbClr val="FFFFFF"/>
                </a:solidFill>
                <a:latin typeface="Malgun Gothic"/>
              </a:rPr>
              <a:t> </a:t>
            </a:r>
            <a:r>
              <a:rPr lang="ko-KR" altLang="en-US" dirty="0">
                <a:solidFill>
                  <a:srgbClr val="FFFFFF"/>
                </a:solidFill>
                <a:latin typeface="Malgun Gothic"/>
              </a:rPr>
              <a:t>기반 </a:t>
            </a:r>
            <a:r>
              <a:rPr lang="en-US" altLang="ko-KR" dirty="0">
                <a:solidFill>
                  <a:srgbClr val="FFFFFF"/>
                </a:solidFill>
                <a:latin typeface="Malgun Gothic"/>
              </a:rPr>
              <a:t>U-Net architecture</a:t>
            </a:r>
            <a:endParaRPr dirty="0"/>
          </a:p>
          <a:p>
            <a:pPr>
              <a:spcAft>
                <a:spcPts val="1200"/>
              </a:spcAft>
              <a:defRPr sz="1900">
                <a:solidFill>
                  <a:srgbClr val="F5F5F5"/>
                </a:solidFill>
                <a:latin typeface="Noto Sans CJK KR"/>
              </a:defRPr>
            </a:pPr>
            <a:r>
              <a:rPr dirty="0"/>
              <a:t>• Timestep </a:t>
            </a:r>
            <a:r>
              <a:rPr lang="en-US" dirty="0"/>
              <a:t>t</a:t>
            </a:r>
            <a:r>
              <a:rPr lang="ko-KR" altLang="en-US" dirty="0"/>
              <a:t>는 </a:t>
            </a:r>
            <a:r>
              <a:rPr lang="en-US" dirty="0"/>
              <a:t>sinusoidal position embedding</a:t>
            </a:r>
            <a:r>
              <a:rPr lang="ko-KR" altLang="en-US" dirty="0"/>
              <a:t>으로 입력된다</a:t>
            </a:r>
            <a:r>
              <a:rPr lang="en-US" altLang="ko-KR" dirty="0"/>
              <a:t>.</a:t>
            </a:r>
            <a:endParaRPr lang="en-US" dirty="0"/>
          </a:p>
          <a:p>
            <a:pPr>
              <a:spcAft>
                <a:spcPts val="1200"/>
              </a:spcAft>
              <a:defRPr sz="1900">
                <a:solidFill>
                  <a:srgbClr val="F5F5F5"/>
                </a:solidFill>
                <a:latin typeface="Noto Sans CJK KR"/>
              </a:defRPr>
            </a:pPr>
            <a:r>
              <a:rPr dirty="0"/>
              <a:t>• </a:t>
            </a:r>
            <a:r>
              <a:rPr lang="en-US" dirty="0"/>
              <a:t>16×16 feature-map resolution</a:t>
            </a:r>
            <a:r>
              <a:rPr lang="ko-KR" altLang="en-US" dirty="0"/>
              <a:t>에서 </a:t>
            </a:r>
            <a:r>
              <a:rPr lang="en-US" dirty="0"/>
              <a:t>self-attention</a:t>
            </a:r>
            <a:r>
              <a:rPr lang="ko-KR" altLang="en-US" dirty="0"/>
              <a:t>을 사용한다</a:t>
            </a:r>
            <a:r>
              <a:rPr lang="en-US" altLang="ko-KR" dirty="0"/>
              <a:t>.</a:t>
            </a:r>
          </a:p>
          <a:p>
            <a:pPr>
              <a:spcAft>
                <a:spcPts val="1200"/>
              </a:spcAft>
              <a:defRPr sz="1900">
                <a:solidFill>
                  <a:srgbClr val="F5F5F5"/>
                </a:solidFill>
                <a:latin typeface="Noto Sans CJK KR"/>
              </a:defRPr>
            </a:pPr>
            <a:r>
              <a:rPr lang="en-US" altLang="ko-KR" dirty="0"/>
              <a:t>• </a:t>
            </a:r>
            <a:r>
              <a:rPr lang="en-US" dirty="0"/>
              <a:t>Diffusion length: T = 1000.</a:t>
            </a:r>
          </a:p>
          <a:p>
            <a:pPr>
              <a:spcAft>
                <a:spcPts val="1200"/>
              </a:spcAft>
              <a:defRPr sz="1900">
                <a:solidFill>
                  <a:srgbClr val="F5F5F5"/>
                </a:solidFill>
                <a:latin typeface="Noto Sans CJK KR"/>
              </a:defRPr>
            </a:pPr>
            <a:r>
              <a:rPr dirty="0"/>
              <a:t>• </a:t>
            </a:r>
            <a:r>
              <a:rPr lang="en-US" dirty="0">
                <a:solidFill>
                  <a:srgbClr val="FFFFFF"/>
                </a:solidFill>
                <a:latin typeface="Malgun Gothic"/>
              </a:rPr>
              <a:t>forward process</a:t>
            </a:r>
            <a:r>
              <a:rPr lang="ko-KR" altLang="en-US" dirty="0">
                <a:solidFill>
                  <a:srgbClr val="FFFFFF"/>
                </a:solidFill>
                <a:latin typeface="Malgun Gothic"/>
              </a:rPr>
              <a:t>의 </a:t>
            </a:r>
            <a:r>
              <a:rPr lang="en-US" altLang="ko-KR" dirty="0">
                <a:solidFill>
                  <a:srgbClr val="FFFFFF"/>
                </a:solidFill>
                <a:latin typeface="Malgun Gothic"/>
              </a:rPr>
              <a:t>variance β₁,…,βT</a:t>
            </a:r>
            <a:r>
              <a:rPr lang="ko-KR" altLang="en-US" dirty="0">
                <a:solidFill>
                  <a:srgbClr val="FFFFFF"/>
                </a:solidFill>
                <a:latin typeface="Malgun Gothic"/>
              </a:rPr>
              <a:t>는 </a:t>
            </a:r>
            <a:r>
              <a:rPr lang="en-US" altLang="ko-KR" dirty="0">
                <a:solidFill>
                  <a:srgbClr val="FFFFFF"/>
                </a:solidFill>
                <a:latin typeface="Malgun Gothic"/>
              </a:rPr>
              <a:t>10⁻⁴</a:t>
            </a:r>
            <a:r>
              <a:rPr lang="ko-KR" altLang="en-US" dirty="0">
                <a:solidFill>
                  <a:srgbClr val="FFFFFF"/>
                </a:solidFill>
                <a:latin typeface="Malgun Gothic"/>
              </a:rPr>
              <a:t>에서 </a:t>
            </a:r>
            <a:r>
              <a:rPr lang="en-US" altLang="ko-KR" dirty="0">
                <a:solidFill>
                  <a:srgbClr val="FFFFFF"/>
                </a:solidFill>
                <a:latin typeface="Malgun Gothic"/>
              </a:rPr>
              <a:t>0.02</a:t>
            </a:r>
            <a:r>
              <a:rPr lang="ko-KR" altLang="en-US" dirty="0">
                <a:solidFill>
                  <a:srgbClr val="FFFFFF"/>
                </a:solidFill>
                <a:latin typeface="Malgun Gothic"/>
              </a:rPr>
              <a:t>까지 선형적으로 증가하는 고정 상수이다</a:t>
            </a:r>
            <a:endParaRPr lang="en-US" dirty="0"/>
          </a:p>
          <a:p>
            <a:pPr>
              <a:spcAft>
                <a:spcPts val="1200"/>
              </a:spcAft>
              <a:defRPr sz="1900">
                <a:solidFill>
                  <a:srgbClr val="F5F5F5"/>
                </a:solidFill>
                <a:latin typeface="Noto Sans CJK KR"/>
              </a:defRPr>
            </a:pPr>
            <a:r>
              <a:rPr dirty="0"/>
              <a:t>• </a:t>
            </a:r>
            <a:r>
              <a:rPr lang="ko-KR" altLang="en-US" dirty="0"/>
              <a:t>실험에서는 </a:t>
            </a:r>
            <a:r>
              <a:rPr lang="en-US" altLang="ko-KR" dirty="0"/>
              <a:t>reverse</a:t>
            </a:r>
            <a:r>
              <a:rPr lang="ko-KR" altLang="en-US" dirty="0"/>
              <a:t> </a:t>
            </a:r>
            <a:r>
              <a:rPr lang="en-US" altLang="ko-KR" dirty="0"/>
              <a:t>process</a:t>
            </a:r>
            <a:r>
              <a:rPr lang="ko-KR" altLang="en-US" dirty="0"/>
              <a:t>의 분산을 학습하지 않고</a:t>
            </a:r>
            <a:r>
              <a:rPr lang="en-US" altLang="ko-KR" dirty="0"/>
              <a:t>, t</a:t>
            </a:r>
            <a:r>
              <a:rPr lang="ko-KR" altLang="en-US" dirty="0"/>
              <a:t>에 따라 미리 정해진 상수로 설정한다</a:t>
            </a:r>
            <a:r>
              <a:rPr lang="en-US" altLang="ko-KR" dirty="0"/>
              <a:t>.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868680" y="5806440"/>
            <a:ext cx="1033272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800" b="0">
                <a:solidFill>
                  <a:srgbClr val="B4B4B4"/>
                </a:solidFill>
                <a:latin typeface="Noto Sans CJK KR"/>
              </a:defRPr>
            </a:pPr>
            <a:r>
              <a:rPr lang="en-US" altLang="ko-KR" dirty="0">
                <a:solidFill>
                  <a:srgbClr val="FFFFFF"/>
                </a:solidFill>
                <a:latin typeface="Malgun Gothic"/>
              </a:rPr>
              <a:t>Network output</a:t>
            </a:r>
            <a:r>
              <a:rPr lang="ko-KR" altLang="en-US" dirty="0">
                <a:solidFill>
                  <a:srgbClr val="FFFFFF"/>
                </a:solidFill>
                <a:latin typeface="Malgun Gothic"/>
              </a:rPr>
              <a:t>은 </a:t>
            </a:r>
            <a:r>
              <a:rPr lang="en-US" altLang="ko-KR" dirty="0">
                <a:solidFill>
                  <a:srgbClr val="FFFFFF"/>
                </a:solidFill>
                <a:latin typeface="Malgun Gothic"/>
              </a:rPr>
              <a:t>xₜ</a:t>
            </a:r>
            <a:r>
              <a:rPr lang="ko-KR" altLang="en-US" dirty="0">
                <a:solidFill>
                  <a:srgbClr val="FFFFFF"/>
                </a:solidFill>
                <a:latin typeface="Malgun Gothic"/>
              </a:rPr>
              <a:t>와 같은 차원을 가지며 </a:t>
            </a:r>
            <a:r>
              <a:rPr lang="en-US" altLang="ko-KR" dirty="0" err="1">
                <a:solidFill>
                  <a:srgbClr val="FFFFFF"/>
                </a:solidFill>
                <a:latin typeface="Malgun Gothic"/>
              </a:rPr>
              <a:t>εθ</a:t>
            </a:r>
            <a:r>
              <a:rPr lang="en-US" altLang="ko-KR" dirty="0">
                <a:solidFill>
                  <a:srgbClr val="FFFFFF"/>
                </a:solidFill>
                <a:latin typeface="Malgun Gothic"/>
              </a:rPr>
              <a:t>(</a:t>
            </a:r>
            <a:r>
              <a:rPr lang="en-US" altLang="ko-KR" dirty="0" err="1">
                <a:solidFill>
                  <a:srgbClr val="FFFFFF"/>
                </a:solidFill>
                <a:latin typeface="Malgun Gothic"/>
              </a:rPr>
              <a:t>xₜ,t</a:t>
            </a:r>
            <a:r>
              <a:rPr lang="en-US" altLang="ko-KR" dirty="0">
                <a:solidFill>
                  <a:srgbClr val="FFFFFF"/>
                </a:solidFill>
                <a:latin typeface="Malgun Gothic"/>
              </a:rPr>
              <a:t>)</a:t>
            </a:r>
            <a:r>
              <a:rPr lang="ko-KR" altLang="en-US" dirty="0">
                <a:solidFill>
                  <a:srgbClr val="FFFFFF"/>
                </a:solidFill>
                <a:latin typeface="Malgun Gothic"/>
              </a:rPr>
              <a:t>를 나타낸다</a:t>
            </a:r>
            <a:r>
              <a:rPr lang="en-US" altLang="ko-KR" dirty="0">
                <a:solidFill>
                  <a:srgbClr val="FFFFFF"/>
                </a:solidFill>
                <a:latin typeface="Malgun Gothic"/>
              </a:rPr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08C5AFE-30BC-CB80-7BDF-69E7DB39BEC0}"/>
              </a:ext>
            </a:extLst>
          </p:cNvPr>
          <p:cNvSpPr txBox="1"/>
          <p:nvPr/>
        </p:nvSpPr>
        <p:spPr>
          <a:xfrm>
            <a:off x="731520" y="6510528"/>
            <a:ext cx="621792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00" b="0">
                <a:solidFill>
                  <a:srgbClr val="5F5F5F"/>
                </a:solidFill>
                <a:latin typeface="Noto Sans CJK KR"/>
              </a:defRPr>
            </a:pPr>
            <a:r>
              <a:rPr lang="en-US" dirty="0"/>
              <a:t>AID2026_2_Study / </a:t>
            </a:r>
            <a:r>
              <a:rPr lang="en-US" dirty="0" err="1"/>
              <a:t>AIResearchers</a:t>
            </a:r>
            <a:endParaRPr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438912"/>
            <a:ext cx="10698480" cy="5669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F5F5F5"/>
                </a:solidFill>
                <a:latin typeface="Noto Sans CJK KR"/>
              </a:defRPr>
            </a:pPr>
            <a:r>
              <a:t>Experiments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64240" y="48463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>
                <a:solidFill>
                  <a:srgbClr val="5F5F5F"/>
                </a:solidFill>
                <a:latin typeface="Noto Sans CJK KR"/>
              </a:defRPr>
            </a:pPr>
            <a:r>
              <a:t>11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0744200" cy="10972"/>
          </a:xfrm>
          <a:prstGeom prst="rect">
            <a:avLst/>
          </a:prstGeom>
          <a:solidFill>
            <a:srgbClr val="5F5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s9_img2_gr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" y="1643502"/>
            <a:ext cx="6995160" cy="422936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B7B7F35-B978-674C-78E6-DCB85F1106F0}"/>
              </a:ext>
            </a:extLst>
          </p:cNvPr>
          <p:cNvSpPr txBox="1"/>
          <p:nvPr/>
        </p:nvSpPr>
        <p:spPr>
          <a:xfrm>
            <a:off x="731520" y="6510528"/>
            <a:ext cx="621792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00" b="0">
                <a:solidFill>
                  <a:srgbClr val="5F5F5F"/>
                </a:solidFill>
                <a:latin typeface="Noto Sans CJK KR"/>
              </a:defRPr>
            </a:pPr>
            <a:r>
              <a:rPr lang="en-US" dirty="0"/>
              <a:t>AID2026_2_Study / </a:t>
            </a:r>
            <a:r>
              <a:rPr lang="en-US" dirty="0" err="1"/>
              <a:t>AIResearchers</a:t>
            </a:r>
            <a:endParaRPr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CFCF9E7-4889-B606-FBC5-B8641E4D349D}"/>
              </a:ext>
            </a:extLst>
          </p:cNvPr>
          <p:cNvSpPr txBox="1"/>
          <p:nvPr/>
        </p:nvSpPr>
        <p:spPr>
          <a:xfrm>
            <a:off x="8229600" y="176022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B4B4B4"/>
                </a:solidFill>
                <a:latin typeface="Noto Sans CJK KR"/>
              </a:defRPr>
            </a:pPr>
            <a:r>
              <a:rPr dirty="0">
                <a:solidFill>
                  <a:srgbClr val="FFFFFF"/>
                </a:solidFill>
                <a:latin typeface="Malgun Gothic"/>
              </a:rPr>
              <a:t>CIFAR-10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BA75054-C99A-01A6-4B00-CF580CF040C5}"/>
              </a:ext>
            </a:extLst>
          </p:cNvPr>
          <p:cNvSpPr txBox="1"/>
          <p:nvPr/>
        </p:nvSpPr>
        <p:spPr>
          <a:xfrm>
            <a:off x="8229600" y="2272284"/>
            <a:ext cx="246888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B4B4B4"/>
                </a:solidFill>
                <a:latin typeface="Noto Sans CJK KR"/>
              </a:defRPr>
            </a:pPr>
            <a:r>
              <a:rPr>
                <a:solidFill>
                  <a:srgbClr val="FFFFFF"/>
                </a:solidFill>
                <a:latin typeface="Malgun Gothic"/>
              </a:rPr>
              <a:t>Inception Score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8021BC3-1B1B-BF7A-444B-95A544DC7503}"/>
              </a:ext>
            </a:extLst>
          </p:cNvPr>
          <p:cNvSpPr txBox="1"/>
          <p:nvPr/>
        </p:nvSpPr>
        <p:spPr>
          <a:xfrm>
            <a:off x="8229600" y="2583180"/>
            <a:ext cx="22860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2900" b="1">
                <a:solidFill>
                  <a:srgbClr val="F5F5F5"/>
                </a:solidFill>
                <a:latin typeface="Noto Sans CJK KR"/>
              </a:defRPr>
            </a:pPr>
            <a:r>
              <a:rPr>
                <a:solidFill>
                  <a:srgbClr val="FFFFFF"/>
                </a:solidFill>
                <a:latin typeface="Malgun Gothic"/>
              </a:rPr>
              <a:t>9.46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E90406C-617E-CDD5-2CD9-50192370DDF8}"/>
              </a:ext>
            </a:extLst>
          </p:cNvPr>
          <p:cNvSpPr txBox="1"/>
          <p:nvPr/>
        </p:nvSpPr>
        <p:spPr>
          <a:xfrm>
            <a:off x="8229600" y="3342132"/>
            <a:ext cx="1828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B4B4B4"/>
                </a:solidFill>
                <a:latin typeface="Noto Sans CJK KR"/>
              </a:defRPr>
            </a:pPr>
            <a:r>
              <a:rPr>
                <a:solidFill>
                  <a:srgbClr val="FFFFFF"/>
                </a:solidFill>
                <a:latin typeface="Malgun Gothic"/>
              </a:rPr>
              <a:t>FID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605C762-78C4-039B-63ED-E6D8419A2725}"/>
              </a:ext>
            </a:extLst>
          </p:cNvPr>
          <p:cNvSpPr txBox="1"/>
          <p:nvPr/>
        </p:nvSpPr>
        <p:spPr>
          <a:xfrm>
            <a:off x="8229600" y="3653028"/>
            <a:ext cx="2286000" cy="4754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2900" b="1">
                <a:solidFill>
                  <a:srgbClr val="F5F5F5"/>
                </a:solidFill>
                <a:latin typeface="Noto Sans CJK KR"/>
              </a:defRPr>
            </a:pPr>
            <a:r>
              <a:rPr>
                <a:solidFill>
                  <a:srgbClr val="FFFFFF"/>
                </a:solidFill>
                <a:latin typeface="Malgun Gothic"/>
              </a:rPr>
              <a:t>3.17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79D4A9A-040F-43BE-0779-EB305769369E}"/>
              </a:ext>
            </a:extLst>
          </p:cNvPr>
          <p:cNvSpPr txBox="1"/>
          <p:nvPr/>
        </p:nvSpPr>
        <p:spPr>
          <a:xfrm>
            <a:off x="8229600" y="4530852"/>
            <a:ext cx="25603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600" b="1">
                <a:solidFill>
                  <a:srgbClr val="B4B4B4"/>
                </a:solidFill>
                <a:latin typeface="Noto Sans CJK KR"/>
              </a:defRPr>
            </a:pPr>
            <a:r>
              <a:rPr>
                <a:solidFill>
                  <a:srgbClr val="FFFFFF"/>
                </a:solidFill>
                <a:latin typeface="Malgun Gothic"/>
              </a:rPr>
              <a:t>LSUN 256×256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6CD2078-1475-B489-5F35-1547E6B4E1AB}"/>
              </a:ext>
            </a:extLst>
          </p:cNvPr>
          <p:cNvSpPr txBox="1"/>
          <p:nvPr/>
        </p:nvSpPr>
        <p:spPr>
          <a:xfrm>
            <a:off x="8229599" y="4942332"/>
            <a:ext cx="3423557" cy="64633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F5F5F5"/>
                </a:solidFill>
                <a:latin typeface="Noto Sans CJK KR"/>
              </a:defRPr>
            </a:pPr>
            <a:r>
              <a:rPr dirty="0" err="1">
                <a:solidFill>
                  <a:srgbClr val="FFFFFF"/>
                </a:solidFill>
                <a:latin typeface="Malgun Gothic"/>
              </a:rPr>
              <a:t>ProgressiveGAN과</a:t>
            </a:r>
            <a:r>
              <a:rPr dirty="0">
                <a:solidFill>
                  <a:srgbClr val="FFFFFF"/>
                </a:solidFill>
                <a:latin typeface="Malgun Gothic"/>
              </a:rPr>
              <a:t> </a:t>
            </a:r>
            <a:r>
              <a:rPr dirty="0" err="1">
                <a:solidFill>
                  <a:srgbClr val="FFFFFF"/>
                </a:solidFill>
                <a:latin typeface="Malgun Gothic"/>
              </a:rPr>
              <a:t>비교</a:t>
            </a:r>
            <a:r>
              <a:rPr dirty="0">
                <a:solidFill>
                  <a:srgbClr val="FFFFFF"/>
                </a:solidFill>
                <a:latin typeface="Malgun Gothic"/>
              </a:rPr>
              <a:t> </a:t>
            </a:r>
            <a:r>
              <a:rPr dirty="0" err="1">
                <a:solidFill>
                  <a:srgbClr val="FFFFFF"/>
                </a:solidFill>
                <a:latin typeface="Malgun Gothic"/>
              </a:rPr>
              <a:t>가능한</a:t>
            </a:r>
            <a:r>
              <a:rPr dirty="0">
                <a:solidFill>
                  <a:srgbClr val="FFFFFF"/>
                </a:solidFill>
                <a:latin typeface="Malgun Gothic"/>
              </a:rPr>
              <a:t> sample </a:t>
            </a:r>
            <a:r>
              <a:rPr dirty="0" err="1">
                <a:solidFill>
                  <a:srgbClr val="FFFFFF"/>
                </a:solidFill>
                <a:latin typeface="Malgun Gothic"/>
              </a:rPr>
              <a:t>quality를</a:t>
            </a:r>
            <a:r>
              <a:rPr dirty="0">
                <a:solidFill>
                  <a:srgbClr val="FFFFFF"/>
                </a:solidFill>
                <a:latin typeface="Malgun Gothic"/>
              </a:rPr>
              <a:t> </a:t>
            </a:r>
            <a:r>
              <a:rPr dirty="0" err="1">
                <a:solidFill>
                  <a:srgbClr val="FFFFFF"/>
                </a:solidFill>
                <a:latin typeface="Malgun Gothic"/>
              </a:rPr>
              <a:t>보였다</a:t>
            </a:r>
            <a:r>
              <a:rPr dirty="0">
                <a:solidFill>
                  <a:srgbClr val="FFFFFF"/>
                </a:solidFill>
                <a:latin typeface="Malgun Gothic"/>
              </a:rPr>
              <a:t>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13232" y="438912"/>
            <a:ext cx="4015971" cy="5693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100" b="1">
                <a:solidFill>
                  <a:srgbClr val="F5F5F5"/>
                </a:solidFill>
                <a:latin typeface="Noto Sans CJK KR"/>
              </a:defRPr>
            </a:pPr>
            <a:r>
              <a:rPr dirty="0"/>
              <a:t>Conclusion</a:t>
            </a:r>
            <a:r>
              <a:rPr lang="en-US" dirty="0"/>
              <a:t> &amp; Summary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11064240" y="484632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>
                <a:solidFill>
                  <a:srgbClr val="5F5F5F"/>
                </a:solidFill>
                <a:latin typeface="Noto Sans CJK KR"/>
              </a:defRPr>
            </a:pPr>
            <a:r>
              <a:t>12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43000"/>
            <a:ext cx="10744200" cy="10972"/>
          </a:xfrm>
          <a:prstGeom prst="rect">
            <a:avLst/>
          </a:prstGeom>
          <a:solidFill>
            <a:srgbClr val="5F5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481328"/>
            <a:ext cx="10378440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2000">
                <a:solidFill>
                  <a:srgbClr val="F5F5F5"/>
                </a:solidFill>
                <a:latin typeface="Noto Sans CJK KR"/>
              </a:defRPr>
            </a:pPr>
            <a:r>
              <a:rPr dirty="0"/>
              <a:t>• </a:t>
            </a:r>
            <a:r>
              <a:rPr lang="en-US" altLang="ko-KR" dirty="0"/>
              <a:t>DDPM</a:t>
            </a:r>
            <a:r>
              <a:rPr lang="ko-KR" altLang="en-US" dirty="0"/>
              <a:t>은 점진적인 </a:t>
            </a:r>
            <a:r>
              <a:rPr lang="en-US" altLang="ko-KR" dirty="0"/>
              <a:t>Gaussian </a:t>
            </a:r>
            <a:r>
              <a:rPr lang="en-US" altLang="ko-KR" dirty="0" err="1"/>
              <a:t>diffusio</a:t>
            </a:r>
            <a:r>
              <a:rPr lang="ko-KR" altLang="en-US" dirty="0"/>
              <a:t>의 </a:t>
            </a:r>
            <a:r>
              <a:rPr lang="en-US" altLang="ko-KR" dirty="0"/>
              <a:t>forward </a:t>
            </a:r>
            <a:r>
              <a:rPr lang="ko-KR" altLang="en-US" dirty="0"/>
              <a:t>과정과 </a:t>
            </a:r>
            <a:r>
              <a:rPr lang="en-US" altLang="ko-KR" dirty="0"/>
              <a:t>reverse</a:t>
            </a:r>
            <a:r>
              <a:rPr lang="ko-KR" altLang="en-US" dirty="0"/>
              <a:t>의 이미지 생성 과정으로 나뉜다</a:t>
            </a:r>
            <a:r>
              <a:rPr lang="en-US" altLang="ko-KR" dirty="0"/>
              <a:t>.</a:t>
            </a:r>
            <a:endParaRPr lang="en-US" dirty="0"/>
          </a:p>
          <a:p>
            <a:pPr>
              <a:spcAft>
                <a:spcPts val="1500"/>
              </a:spcAft>
              <a:defRPr sz="2000">
                <a:solidFill>
                  <a:srgbClr val="F5F5F5"/>
                </a:solidFill>
                <a:latin typeface="Noto Sans CJK KR"/>
              </a:defRPr>
            </a:pPr>
            <a:r>
              <a:rPr dirty="0"/>
              <a:t>• </a:t>
            </a:r>
            <a:r>
              <a:rPr lang="ko-KR" altLang="en-US" dirty="0"/>
              <a:t>간단한 </a:t>
            </a:r>
            <a:r>
              <a:rPr lang="en-US" dirty="0"/>
              <a:t>noise prediction objective</a:t>
            </a:r>
            <a:r>
              <a:rPr lang="ko-KR" altLang="en-US" dirty="0"/>
              <a:t>만으로도 </a:t>
            </a:r>
            <a:r>
              <a:rPr lang="en-US" dirty="0"/>
              <a:t>reverse process</a:t>
            </a:r>
            <a:r>
              <a:rPr lang="ko-KR" altLang="en-US" dirty="0"/>
              <a:t>를 효과적으로 학습할 수 있다</a:t>
            </a:r>
            <a:r>
              <a:rPr lang="en-US" altLang="ko-KR" dirty="0"/>
              <a:t>.</a:t>
            </a:r>
            <a:endParaRPr lang="en-US" dirty="0"/>
          </a:p>
          <a:p>
            <a:pPr>
              <a:spcAft>
                <a:spcPts val="1500"/>
              </a:spcAft>
              <a:defRPr sz="2000">
                <a:solidFill>
                  <a:srgbClr val="F5F5F5"/>
                </a:solidFill>
                <a:latin typeface="Noto Sans CJK KR"/>
              </a:defRPr>
            </a:pPr>
            <a:r>
              <a:rPr dirty="0"/>
              <a:t>• </a:t>
            </a:r>
            <a:r>
              <a:rPr lang="en-US" altLang="ko-KR" dirty="0"/>
              <a:t>Adversarial training </a:t>
            </a:r>
            <a:r>
              <a:rPr lang="ko-KR" altLang="en-US" dirty="0"/>
              <a:t>없이도 고품질의 이미지를 생성할 수 있다</a:t>
            </a:r>
            <a:r>
              <a:rPr lang="en-US" altLang="ko-KR" dirty="0"/>
              <a:t>.</a:t>
            </a:r>
            <a:endParaRPr dirty="0"/>
          </a:p>
          <a:p>
            <a:pPr>
              <a:spcAft>
                <a:spcPts val="1500"/>
              </a:spcAft>
              <a:defRPr sz="2000">
                <a:solidFill>
                  <a:srgbClr val="F5F5F5"/>
                </a:solidFill>
                <a:latin typeface="Noto Sans CJK KR"/>
              </a:defRPr>
            </a:pPr>
            <a:r>
              <a:rPr dirty="0"/>
              <a:t>• </a:t>
            </a:r>
            <a:r>
              <a:rPr lang="en-US" altLang="ko-KR" dirty="0"/>
              <a:t>Sampling </a:t>
            </a:r>
            <a:r>
              <a:rPr lang="ko-KR" altLang="en-US" dirty="0"/>
              <a:t>과정에서는 많은 </a:t>
            </a:r>
            <a:r>
              <a:rPr lang="en-US" altLang="ko-KR" dirty="0"/>
              <a:t>timestep</a:t>
            </a:r>
            <a:r>
              <a:rPr lang="ko-KR" altLang="en-US" dirty="0"/>
              <a:t>에 걸쳐 </a:t>
            </a:r>
            <a:r>
              <a:rPr lang="en-US" altLang="ko-KR" dirty="0"/>
              <a:t>reverse Markov chain</a:t>
            </a:r>
            <a:r>
              <a:rPr lang="ko-KR" altLang="en-US" dirty="0"/>
              <a:t>을 수행해야 하므로</a:t>
            </a:r>
            <a:r>
              <a:rPr lang="en-US" altLang="ko-KR" dirty="0"/>
              <a:t>, </a:t>
            </a:r>
            <a:r>
              <a:rPr lang="ko-KR" altLang="en-US" dirty="0"/>
              <a:t>한 번의 </a:t>
            </a:r>
            <a:r>
              <a:rPr lang="en-US" altLang="ko-KR" dirty="0"/>
              <a:t>forward pass</a:t>
            </a:r>
            <a:r>
              <a:rPr lang="ko-KR" altLang="en-US" dirty="0"/>
              <a:t>로 생성하는 모델에 비해 계산 비용이 크다</a:t>
            </a:r>
            <a:r>
              <a:rPr lang="en-US" altLang="ko-KR" dirty="0"/>
              <a:t>.</a:t>
            </a:r>
            <a:endParaRPr lang="en-US" dirty="0"/>
          </a:p>
          <a:p>
            <a:pPr>
              <a:spcAft>
                <a:spcPts val="1500"/>
              </a:spcAft>
              <a:defRPr sz="2000">
                <a:solidFill>
                  <a:srgbClr val="F5F5F5"/>
                </a:solidFill>
                <a:latin typeface="Noto Sans CJK KR"/>
              </a:defRPr>
            </a:pPr>
            <a:r>
              <a:rPr dirty="0"/>
              <a:t>• </a:t>
            </a:r>
            <a:r>
              <a:rPr lang="ko-KR" altLang="en-US" dirty="0"/>
              <a:t>논문은 </a:t>
            </a:r>
            <a:r>
              <a:rPr lang="en-US" dirty="0"/>
              <a:t>diffusion model</a:t>
            </a:r>
            <a:r>
              <a:rPr lang="ko-KR" altLang="en-US" dirty="0"/>
              <a:t>과 </a:t>
            </a:r>
            <a:r>
              <a:rPr lang="en-US" dirty="0"/>
              <a:t>denoising score matching</a:t>
            </a:r>
            <a:r>
              <a:rPr lang="ko-KR" altLang="en-US" dirty="0"/>
              <a:t>의 관계를 제시하고</a:t>
            </a:r>
            <a:r>
              <a:rPr lang="en-US" altLang="ko-KR" dirty="0"/>
              <a:t>, </a:t>
            </a:r>
            <a:r>
              <a:rPr lang="ko-KR" altLang="en-US" dirty="0"/>
              <a:t>이를 </a:t>
            </a:r>
            <a:r>
              <a:rPr lang="en-US" dirty="0"/>
              <a:t>progressive lossy decompression</a:t>
            </a:r>
            <a:r>
              <a:rPr lang="ko-KR" altLang="en-US" dirty="0"/>
              <a:t>의 관점에서도 해석한다</a:t>
            </a:r>
            <a:r>
              <a:rPr lang="en-US" altLang="ko-KR" dirty="0"/>
              <a:t>.</a:t>
            </a:r>
            <a:endParaRPr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1F96CB2-5F68-3709-0513-A731EBBD9340}"/>
              </a:ext>
            </a:extLst>
          </p:cNvPr>
          <p:cNvSpPr txBox="1"/>
          <p:nvPr/>
        </p:nvSpPr>
        <p:spPr>
          <a:xfrm>
            <a:off x="731520" y="6510528"/>
            <a:ext cx="621792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900" b="0">
                <a:solidFill>
                  <a:srgbClr val="5F5F5F"/>
                </a:solidFill>
                <a:latin typeface="Noto Sans CJK KR"/>
              </a:defRPr>
            </a:pPr>
            <a:r>
              <a:rPr lang="en-US" dirty="0"/>
              <a:t>AID2026_2_Study / </a:t>
            </a:r>
            <a:r>
              <a:rPr lang="en-US" dirty="0" err="1"/>
              <a:t>AIResearchers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286</TotalTime>
  <Words>1123</Words>
  <Application>Microsoft Office PowerPoint</Application>
  <PresentationFormat>와이드스크린</PresentationFormat>
  <Paragraphs>125</Paragraphs>
  <Slides>24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24</vt:i4>
      </vt:variant>
    </vt:vector>
  </HeadingPairs>
  <TitlesOfParts>
    <vt:vector size="32" baseType="lpstr">
      <vt:lpstr>Noto Sans CJK KR</vt:lpstr>
      <vt:lpstr>Malgun Gothic</vt:lpstr>
      <vt:lpstr>Malgun Gothic</vt:lpstr>
      <vt:lpstr>Arial</vt:lpstr>
      <vt:lpstr>Calibri</vt:lpstr>
      <vt:lpstr>Cambria Math</vt:lpstr>
      <vt:lpstr>Wingdings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ParkHyuna</cp:lastModifiedBy>
  <cp:revision>28</cp:revision>
  <dcterms:created xsi:type="dcterms:W3CDTF">2013-01-27T09:14:16Z</dcterms:created>
  <dcterms:modified xsi:type="dcterms:W3CDTF">2026-10-07T09:37:30Z</dcterms:modified>
  <cp:category/>
</cp:coreProperties>
</file>